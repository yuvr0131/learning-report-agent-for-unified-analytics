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5" r:id="rId4"/>
  </p:sldMasterIdLst>
  <p:notesMasterIdLst>
    <p:notesMasterId r:id="rId15"/>
  </p:notesMasterIdLst>
  <p:sldIdLst>
    <p:sldId id="2147482241" r:id="rId5"/>
    <p:sldId id="2147482259" r:id="rId6"/>
    <p:sldId id="2147482270" r:id="rId7"/>
    <p:sldId id="2147482255" r:id="rId8"/>
    <p:sldId id="2147482269" r:id="rId9"/>
    <p:sldId id="2147482272" r:id="rId10"/>
    <p:sldId id="2147482271" r:id="rId11"/>
    <p:sldId id="2147482257" r:id="rId12"/>
    <p:sldId id="2147482273" r:id="rId13"/>
    <p:sldId id="2147482275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3B171A8B-2443-0D6A-7831-64479511477E}" name="Srikant Dharmana (Strat1 Consulting LLC)" initials="SD" userId="S::v-srdharmana@microsoft.com::654db8d1-c988-4f4a-9b83-d6ad2cb15f77" providerId="AD"/>
  <p188:author id="{52BA4CE0-75EC-6C3D-26E7-85901897F81D}" name="Liz Torres-Ramirez" initials="LT" userId="S::lizto@microsoft.com::6743c6f5-b07c-4a63-9ece-69149996d347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D5E49"/>
    <a:srgbClr val="F2F2F2"/>
    <a:srgbClr val="F7DFDA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C28A866-0E9E-6D25-72CF-7AAB04720A96}" v="869" dt="2026-06-14T07:28:12.868"/>
    <p1510:client id="{99D11B93-FAEF-C338-F359-4A321A9ED7F2}" v="3" dt="2026-06-14T12:00:13.573"/>
    <p1510:client id="{CF809BE1-FFF4-D93E-277B-1934A5894474}" v="375" dt="2026-06-14T11:58:37.33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86" d="100"/>
          <a:sy n="86" d="100"/>
        </p:scale>
        <p:origin x="533" y="-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microsoft.com/office/2018/10/relationships/authors" Target="author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20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98A0C61-0A9F-466F-80F9-02EE841505C8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E03EC6C-D9B0-445D-8E51-1C42F0278F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60728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03EC6C-D9B0-445D-8E51-1C42F0278F68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022472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8A6EB7B5-09E6-239C-5548-D264863676F3}"/>
              </a:ext>
            </a:extLst>
          </p:cNvPr>
          <p:cNvSpPr/>
          <p:nvPr userDrawn="1"/>
        </p:nvSpPr>
        <p:spPr>
          <a:xfrm>
            <a:off x="9329057" y="6466114"/>
            <a:ext cx="2362200" cy="2286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E99E369-D7F9-40E1-6820-83BFE09DFB05}"/>
              </a:ext>
            </a:extLst>
          </p:cNvPr>
          <p:cNvSpPr/>
          <p:nvPr userDrawn="1"/>
        </p:nvSpPr>
        <p:spPr>
          <a:xfrm>
            <a:off x="-2" y="6147582"/>
            <a:ext cx="1674057" cy="71041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54D47CDF-9154-775A-939D-16D454DA616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 flipH="1">
            <a:off x="-2" y="2912526"/>
            <a:ext cx="12192001" cy="3945474"/>
          </a:xfrm>
          <a:prstGeom prst="rect">
            <a:avLst/>
          </a:prstGeom>
        </p:spPr>
      </p:pic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DF850D93-3533-8DCB-34B7-C6D207234FF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968943" y="1630920"/>
            <a:ext cx="6943333" cy="1509387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4800">
                <a:solidFill>
                  <a:srgbClr val="1A1A1A"/>
                </a:solidFill>
                <a:latin typeface="ES Klarheit Grotesk Lt" pitchFamily="2" charset="0"/>
                <a:ea typeface="ES Klarheit Grotesk Lt" pitchFamily="2" charset="0"/>
              </a:defRPr>
            </a:lvl1pPr>
          </a:lstStyle>
          <a:p>
            <a:pPr lvl="0"/>
            <a:r>
              <a:rPr lang="en-GB"/>
              <a:t>Click to edit </a:t>
            </a:r>
          </a:p>
          <a:p>
            <a:pPr lvl="0"/>
            <a:r>
              <a:rPr lang="en-GB"/>
              <a:t>Master title style</a:t>
            </a:r>
          </a:p>
        </p:txBody>
      </p:sp>
      <p:sp>
        <p:nvSpPr>
          <p:cNvPr id="21" name="Text Placeholder 16">
            <a:extLst>
              <a:ext uri="{FF2B5EF4-FFF2-40B4-BE49-F238E27FC236}">
                <a16:creationId xmlns:a16="http://schemas.microsoft.com/office/drawing/2014/main" id="{26DC01FE-93EE-1F2D-F21D-E864C69D7FD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968943" y="3160731"/>
            <a:ext cx="6962275" cy="539441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200">
                <a:solidFill>
                  <a:schemeClr val="bg1">
                    <a:lumMod val="50000"/>
                  </a:schemeClr>
                </a:solidFill>
                <a:latin typeface="ES Klarheit Grotesk" pitchFamily="2" charset="0"/>
                <a:ea typeface="ES Klarheit Grotesk" pitchFamily="2" charset="0"/>
              </a:defRPr>
            </a:lvl1pPr>
          </a:lstStyle>
          <a:p>
            <a:pPr lvl="0"/>
            <a:r>
              <a:rPr lang="en-GB"/>
              <a:t>Click to edit Master subtitle style</a:t>
            </a:r>
          </a:p>
        </p:txBody>
      </p:sp>
      <p:sp>
        <p:nvSpPr>
          <p:cNvPr id="24" name="Text Placeholder 16">
            <a:extLst>
              <a:ext uri="{FF2B5EF4-FFF2-40B4-BE49-F238E27FC236}">
                <a16:creationId xmlns:a16="http://schemas.microsoft.com/office/drawing/2014/main" id="{82851D19-714D-3D51-E2C8-D83032A237A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68943" y="4236366"/>
            <a:ext cx="5127057" cy="388051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rgbClr val="1A1A1A"/>
                </a:solidFill>
                <a:latin typeface="ES Klarheit Grotesk" pitchFamily="2" charset="0"/>
                <a:ea typeface="ES Klarheit Grotesk" pitchFamily="2" charset="0"/>
              </a:defRPr>
            </a:lvl1pPr>
          </a:lstStyle>
          <a:p>
            <a:pPr lvl="0"/>
            <a:r>
              <a:rPr lang="en-GB"/>
              <a:t>March 10,  2026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37DA7AF-3E3A-0A22-E80F-D7D261E6326F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936" y="-28576"/>
            <a:ext cx="12052124" cy="9101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19231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8C4AC4-BDEC-4357-8D60-8D24A93B26F7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608851" y="1130793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7" name="Title 1">
            <a:extLst>
              <a:ext uri="{FF2B5EF4-FFF2-40B4-BE49-F238E27FC236}">
                <a16:creationId xmlns:a16="http://schemas.microsoft.com/office/drawing/2014/main" id="{2020E0B2-909A-7EED-D348-0FC69D360FB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61963" y="457200"/>
            <a:ext cx="7437437" cy="553998"/>
          </a:xfrm>
        </p:spPr>
        <p:txBody>
          <a:bodyPr/>
          <a:lstStyle>
            <a:lvl1pPr>
              <a:defRPr sz="3600" b="0" i="0">
                <a:solidFill>
                  <a:schemeClr val="bg1"/>
                </a:solidFill>
                <a:latin typeface="Segoe Sans Display Semibold" pitchFamily="2" charset="0"/>
                <a:cs typeface="Segoe Sans Display Semibold" pitchFamily="2" charset="0"/>
              </a:defRPr>
            </a:lvl1pPr>
          </a:lstStyle>
          <a:p>
            <a:r>
              <a:rPr lang="en-US"/>
              <a:t>Agenda</a:t>
            </a:r>
          </a:p>
        </p:txBody>
      </p:sp>
      <p:pic>
        <p:nvPicPr>
          <p:cNvPr id="9" name="MS logo gray - EMF">
            <a:extLst>
              <a:ext uri="{FF2B5EF4-FFF2-40B4-BE49-F238E27FC236}">
                <a16:creationId xmlns:a16="http://schemas.microsoft.com/office/drawing/2014/main" id="{07811DFC-7AC4-0106-68F9-9C8FA1DADF6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black">
          <a:xfrm>
            <a:off x="1514621" y="6389431"/>
            <a:ext cx="1012916" cy="2169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13167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pic>
        <p:nvPicPr>
          <p:cNvPr id="8" name="MS logo gray - EMF">
            <a:extLst>
              <a:ext uri="{FF2B5EF4-FFF2-40B4-BE49-F238E27FC236}">
                <a16:creationId xmlns:a16="http://schemas.microsoft.com/office/drawing/2014/main" id="{8A717617-C5F1-38D1-D474-9A4761038F0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black">
          <a:xfrm>
            <a:off x="1514621" y="6389431"/>
            <a:ext cx="1012916" cy="2169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46980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svg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BC14536-469C-7DFD-90D3-3AF1CFE825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3D9401-1575-2E89-7755-C480FFD4A8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9DD044F-AD70-AA31-7DBF-D6B87F82F156}"/>
              </a:ext>
            </a:extLst>
          </p:cNvPr>
          <p:cNvSpPr txBox="1"/>
          <p:nvPr userDrawn="1"/>
        </p:nvSpPr>
        <p:spPr>
          <a:xfrm>
            <a:off x="8501440" y="6450756"/>
            <a:ext cx="2762250" cy="21428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7000"/>
              </a:lnSpc>
              <a:spcAft>
                <a:spcPts val="800"/>
              </a:spcAft>
            </a:pPr>
            <a:r>
              <a:rPr lang="en-US" sz="800">
                <a:solidFill>
                  <a:schemeClr val="bg1">
                    <a:lumMod val="65000"/>
                  </a:schemeClr>
                </a:solidFill>
                <a:effectLst/>
                <a:latin typeface="ES Klarheit Grotesk" pitchFamily="2" charset="0"/>
                <a:ea typeface="ES Klarheit Grotesk" pitchFamily="2" charset="0"/>
                <a:cs typeface="Calibri" panose="020F0502020204030204" pitchFamily="34" charset="0"/>
              </a:rPr>
              <a:t>©LTM  |  Privileged and Confidential</a:t>
            </a:r>
          </a:p>
        </p:txBody>
      </p:sp>
      <p:sp>
        <p:nvSpPr>
          <p:cNvPr id="8" name="Marcador de número de diapositiva 5">
            <a:extLst>
              <a:ext uri="{FF2B5EF4-FFF2-40B4-BE49-F238E27FC236}">
                <a16:creationId xmlns:a16="http://schemas.microsoft.com/office/drawing/2014/main" id="{8DCC2A93-263C-98AF-A948-75A458E15543}"/>
              </a:ext>
            </a:extLst>
          </p:cNvPr>
          <p:cNvSpPr txBox="1">
            <a:spLocks/>
          </p:cNvSpPr>
          <p:nvPr userDrawn="1"/>
        </p:nvSpPr>
        <p:spPr>
          <a:xfrm>
            <a:off x="11116286" y="6434967"/>
            <a:ext cx="513190" cy="229550"/>
          </a:xfrm>
          <a:prstGeom prst="rect">
            <a:avLst/>
          </a:prstGeom>
        </p:spPr>
        <p:txBody>
          <a:bodyPr lIns="104891" tIns="52445" rIns="104891" bIns="52445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FF439014-E629-42E3-A58B-61A0F1C8CFFE}" type="slidenum">
              <a:rPr lang="en-US" sz="800" b="0" smtClean="0">
                <a:solidFill>
                  <a:schemeClr val="bg1">
                    <a:lumMod val="65000"/>
                  </a:schemeClr>
                </a:solidFill>
                <a:latin typeface="ES Klarheit Grotesk" pitchFamily="2" charset="0"/>
                <a:ea typeface="ES Klarheit Grotesk" pitchFamily="2" charset="0"/>
                <a:cs typeface="Calibri" panose="020F0502020204030204" pitchFamily="34" charset="0"/>
              </a:rPr>
              <a:pPr algn="r"/>
              <a:t>‹#›</a:t>
            </a:fld>
            <a:endParaRPr lang="en-US" sz="800" b="0">
              <a:solidFill>
                <a:schemeClr val="bg1">
                  <a:lumMod val="65000"/>
                </a:schemeClr>
              </a:solidFill>
              <a:latin typeface="ES Klarheit Grotesk" pitchFamily="2" charset="0"/>
              <a:ea typeface="ES Klarheit Grotesk" pitchFamily="2" charset="0"/>
              <a:cs typeface="Calibri" panose="020F0502020204030204" pitchFamily="34" charset="0"/>
            </a:endParaRPr>
          </a:p>
        </p:txBody>
      </p:sp>
      <p:pic>
        <p:nvPicPr>
          <p:cNvPr id="37" name="Graphic 36">
            <a:extLst>
              <a:ext uri="{FF2B5EF4-FFF2-40B4-BE49-F238E27FC236}">
                <a16:creationId xmlns:a16="http://schemas.microsoft.com/office/drawing/2014/main" id="{27F7487F-1441-7542-7165-4AC10FBD95F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96386" y="6439554"/>
            <a:ext cx="513480" cy="1351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46437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6" r:id="rId1"/>
    <p:sldLayoutId id="2147483749" r:id="rId2"/>
    <p:sldLayoutId id="2147483750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jpeg"/><Relationship Id="rId3" Type="http://schemas.openxmlformats.org/officeDocument/2006/relationships/image" Target="../media/image7.jpeg"/><Relationship Id="rId7" Type="http://schemas.openxmlformats.org/officeDocument/2006/relationships/image" Target="../media/image11.jpe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jpeg"/><Relationship Id="rId5" Type="http://schemas.openxmlformats.org/officeDocument/2006/relationships/image" Target="../media/image9.jpeg"/><Relationship Id="rId4" Type="http://schemas.openxmlformats.org/officeDocument/2006/relationships/image" Target="../media/image8.jpe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sv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sv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sv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FDB119-D3AB-D49F-5418-44C3BA5AFC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C68C1C86-281E-0CF9-D91E-42D2DFEFC53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993995" y="1573501"/>
            <a:ext cx="6943333" cy="1509387"/>
          </a:xfrm>
        </p:spPr>
        <p:txBody>
          <a:bodyPr/>
          <a:lstStyle/>
          <a:p>
            <a:r>
              <a:rPr lang="en-US" sz="6600" dirty="0"/>
              <a:t>Hack2Future</a:t>
            </a:r>
            <a:endParaRPr lang="en-GB" sz="6600" dirty="0"/>
          </a:p>
          <a:p>
            <a:r>
              <a:rPr lang="en-US" sz="2400" dirty="0"/>
              <a:t> LTM x Microsoft Hackathon Partnership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BF0B3312-C7FB-1624-45D5-30D17067917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081201" y="3631513"/>
            <a:ext cx="7764037" cy="388051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z="2400" b="1" dirty="0">
                <a:solidFill>
                  <a:srgbClr val="FD5E49"/>
                </a:solidFill>
                <a:latin typeface="ES Klarheit Grotesk"/>
              </a:rPr>
              <a:t>Solution Submission : Team </a:t>
            </a:r>
            <a:r>
              <a:rPr lang="en-US" sz="2400" b="1" dirty="0" err="1">
                <a:solidFill>
                  <a:srgbClr val="FD5E49"/>
                </a:solidFill>
                <a:latin typeface="ES Klarheit Grotesk"/>
              </a:rPr>
              <a:t>ReportRangers</a:t>
            </a:r>
            <a:endParaRPr lang="en-US" sz="2400" dirty="0">
              <a:solidFill>
                <a:srgbClr val="000000"/>
              </a:solidFill>
              <a:latin typeface="ES Klarheit Grotesk"/>
            </a:endParaRPr>
          </a:p>
          <a:p>
            <a:endParaRPr lang="en-US" b="1" dirty="0">
              <a:solidFill>
                <a:srgbClr val="FD5E49"/>
              </a:solidFill>
            </a:endParaRPr>
          </a:p>
        </p:txBody>
      </p:sp>
      <p:sp>
        <p:nvSpPr>
          <p:cNvPr id="9" name="Isosceles Triangle 1">
            <a:extLst>
              <a:ext uri="{FF2B5EF4-FFF2-40B4-BE49-F238E27FC236}">
                <a16:creationId xmlns:a16="http://schemas.microsoft.com/office/drawing/2014/main" id="{EDB93E95-453B-4A63-85D4-2D0451281C0C}"/>
              </a:ext>
            </a:extLst>
          </p:cNvPr>
          <p:cNvSpPr/>
          <p:nvPr/>
        </p:nvSpPr>
        <p:spPr>
          <a:xfrm rot="5400000">
            <a:off x="10361306" y="2314827"/>
            <a:ext cx="1334864" cy="338534"/>
          </a:xfrm>
          <a:custGeom>
            <a:avLst/>
            <a:gdLst>
              <a:gd name="connsiteX0" fmla="*/ 0 w 1060704"/>
              <a:gd name="connsiteY0" fmla="*/ 413806 h 413806"/>
              <a:gd name="connsiteX1" fmla="*/ 530352 w 1060704"/>
              <a:gd name="connsiteY1" fmla="*/ 0 h 413806"/>
              <a:gd name="connsiteX2" fmla="*/ 1060704 w 1060704"/>
              <a:gd name="connsiteY2" fmla="*/ 413806 h 413806"/>
              <a:gd name="connsiteX3" fmla="*/ 0 w 1060704"/>
              <a:gd name="connsiteY3" fmla="*/ 413806 h 413806"/>
              <a:gd name="connsiteX0" fmla="*/ 0 w 1060704"/>
              <a:gd name="connsiteY0" fmla="*/ 413806 h 413806"/>
              <a:gd name="connsiteX1" fmla="*/ 530352 w 1060704"/>
              <a:gd name="connsiteY1" fmla="*/ 0 h 413806"/>
              <a:gd name="connsiteX2" fmla="*/ 1060704 w 1060704"/>
              <a:gd name="connsiteY2" fmla="*/ 413806 h 413806"/>
              <a:gd name="connsiteX3" fmla="*/ 0 w 1060704"/>
              <a:gd name="connsiteY3" fmla="*/ 413806 h 413806"/>
              <a:gd name="connsiteX0" fmla="*/ 0 w 1060704"/>
              <a:gd name="connsiteY0" fmla="*/ 413823 h 413823"/>
              <a:gd name="connsiteX1" fmla="*/ 530352 w 1060704"/>
              <a:gd name="connsiteY1" fmla="*/ 17 h 413823"/>
              <a:gd name="connsiteX2" fmla="*/ 1060704 w 1060704"/>
              <a:gd name="connsiteY2" fmla="*/ 413823 h 413823"/>
              <a:gd name="connsiteX3" fmla="*/ 0 w 1060704"/>
              <a:gd name="connsiteY3" fmla="*/ 413823 h 413823"/>
              <a:gd name="connsiteX0" fmla="*/ 0 w 1060704"/>
              <a:gd name="connsiteY0" fmla="*/ 413823 h 413823"/>
              <a:gd name="connsiteX1" fmla="*/ 530352 w 1060704"/>
              <a:gd name="connsiteY1" fmla="*/ 17 h 413823"/>
              <a:gd name="connsiteX2" fmla="*/ 1060704 w 1060704"/>
              <a:gd name="connsiteY2" fmla="*/ 413823 h 413823"/>
              <a:gd name="connsiteX3" fmla="*/ 0 w 1060704"/>
              <a:gd name="connsiteY3" fmla="*/ 413823 h 413823"/>
              <a:gd name="connsiteX0" fmla="*/ 0 w 1060704"/>
              <a:gd name="connsiteY0" fmla="*/ 413821 h 413821"/>
              <a:gd name="connsiteX1" fmla="*/ 530352 w 1060704"/>
              <a:gd name="connsiteY1" fmla="*/ 15 h 413821"/>
              <a:gd name="connsiteX2" fmla="*/ 1060704 w 1060704"/>
              <a:gd name="connsiteY2" fmla="*/ 413821 h 413821"/>
              <a:gd name="connsiteX3" fmla="*/ 0 w 1060704"/>
              <a:gd name="connsiteY3" fmla="*/ 413821 h 4138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60704" h="413821">
                <a:moveTo>
                  <a:pt x="0" y="413821"/>
                </a:moveTo>
                <a:cubicBezTo>
                  <a:pt x="217266" y="337799"/>
                  <a:pt x="351187" y="4600"/>
                  <a:pt x="530352" y="15"/>
                </a:cubicBezTo>
                <a:cubicBezTo>
                  <a:pt x="699992" y="-2544"/>
                  <a:pt x="838676" y="344943"/>
                  <a:pt x="1060704" y="413821"/>
                </a:cubicBezTo>
                <a:lnTo>
                  <a:pt x="0" y="413821"/>
                </a:ln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pic>
        <p:nvPicPr>
          <p:cNvPr id="2" name="Picture 1" descr="Microsoft Logo, symbol, meaning, history, PNG, brand">
            <a:extLst>
              <a:ext uri="{FF2B5EF4-FFF2-40B4-BE49-F238E27FC236}">
                <a16:creationId xmlns:a16="http://schemas.microsoft.com/office/drawing/2014/main" id="{1343019D-DD1A-303F-F400-8940181107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51275" y="1960399"/>
            <a:ext cx="1868944" cy="10512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95924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D9FFE3C-6161-E632-D534-D946CB1C2382}"/>
              </a:ext>
            </a:extLst>
          </p:cNvPr>
          <p:cNvSpPr txBox="1"/>
          <p:nvPr/>
        </p:nvSpPr>
        <p:spPr>
          <a:xfrm>
            <a:off x="530603" y="465753"/>
            <a:ext cx="6096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800" b="1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Aptos Display" panose="02110004020202020204"/>
                <a:ea typeface="+mn-ea"/>
                <a:cs typeface="+mn-cs"/>
              </a:rPr>
              <a:t>Hack Team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rgbClr val="1A1A1A"/>
              </a:solidFill>
              <a:effectLst/>
              <a:uLnTx/>
              <a:uFillTx/>
              <a:latin typeface="Aptos Display" panose="02110004020202020204"/>
              <a:ea typeface="+mn-ea"/>
              <a:cs typeface="+mn-cs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585D61F-8183-BF93-6093-830CA5B3066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73138" y="1612560"/>
            <a:ext cx="1371600" cy="1371600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accent1"/>
            </a:solidFill>
          </a:ln>
        </p:spPr>
      </p:pic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03888040-60F0-7274-4C2B-1983FEE92E8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17730818"/>
              </p:ext>
            </p:extLst>
          </p:nvPr>
        </p:nvGraphicFramePr>
        <p:xfrm>
          <a:off x="1013041" y="3155708"/>
          <a:ext cx="1291793" cy="251460"/>
        </p:xfrm>
        <a:graphic>
          <a:graphicData uri="http://schemas.openxmlformats.org/drawingml/2006/table">
            <a:tbl>
              <a:tblPr/>
              <a:tblGrid>
                <a:gridCol w="1291793">
                  <a:extLst>
                    <a:ext uri="{9D8B030D-6E8A-4147-A177-3AD203B41FA5}">
                      <a16:colId xmlns:a16="http://schemas.microsoft.com/office/drawing/2014/main" val="1103025908"/>
                    </a:ext>
                  </a:extLst>
                </a:gridCol>
              </a:tblGrid>
              <a:tr h="158741"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1" i="0" u="none" strike="noStrike" noProof="0" dirty="0">
                          <a:solidFill>
                            <a:schemeClr val="tx1"/>
                          </a:solidFill>
                          <a:latin typeface="+mn-lt"/>
                          <a:cs typeface="Segoe UI"/>
                        </a:rPr>
                        <a:t>YUVRAJ SINGH</a:t>
                      </a:r>
                    </a:p>
                  </a:txBody>
                  <a:tcPr anchor="ctr">
                    <a:lnL w="762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89423403"/>
                  </a:ext>
                </a:extLst>
              </a:tr>
            </a:tbl>
          </a:graphicData>
        </a:graphic>
      </p:graphicFrame>
      <p:pic>
        <p:nvPicPr>
          <p:cNvPr id="10" name="Picture 9">
            <a:extLst>
              <a:ext uri="{FF2B5EF4-FFF2-40B4-BE49-F238E27FC236}">
                <a16:creationId xmlns:a16="http://schemas.microsoft.com/office/drawing/2014/main" id="{288315DA-F53D-4696-9AE6-CEA024C763C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727181" y="1612560"/>
            <a:ext cx="1371600" cy="1371600"/>
          </a:xfrm>
          <a:prstGeom prst="ellipse">
            <a:avLst/>
          </a:prstGeom>
          <a:ln>
            <a:solidFill>
              <a:schemeClr val="accent1"/>
            </a:solidFill>
          </a:ln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F0CFC240-22A6-0F06-3D73-9AD7F4D51DC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481224" y="1612560"/>
            <a:ext cx="1371600" cy="1371600"/>
          </a:xfrm>
          <a:prstGeom prst="ellipse">
            <a:avLst/>
          </a:prstGeom>
          <a:ln>
            <a:solidFill>
              <a:schemeClr val="accent1"/>
            </a:solidFill>
          </a:ln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754EA529-A342-680C-B51A-4307974BF1E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235267" y="1612560"/>
            <a:ext cx="1371600" cy="1371600"/>
          </a:xfrm>
          <a:prstGeom prst="ellipse">
            <a:avLst/>
          </a:prstGeom>
          <a:ln>
            <a:solidFill>
              <a:schemeClr val="accent1"/>
            </a:solidFill>
          </a:ln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39DA6284-18FC-19FF-D1C7-4ABD12D41C1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989310" y="1612560"/>
            <a:ext cx="1371600" cy="1371600"/>
          </a:xfrm>
          <a:prstGeom prst="ellipse">
            <a:avLst/>
          </a:prstGeom>
          <a:ln>
            <a:solidFill>
              <a:schemeClr val="accent1"/>
            </a:solidFill>
          </a:ln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21798AF0-F98D-8DC2-D44E-9225B5AF830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743352" y="1612560"/>
            <a:ext cx="1371600" cy="1371600"/>
          </a:xfrm>
          <a:prstGeom prst="ellipse">
            <a:avLst/>
          </a:prstGeom>
          <a:ln>
            <a:solidFill>
              <a:schemeClr val="accent1"/>
            </a:solidFill>
          </a:ln>
        </p:spPr>
      </p:pic>
      <p:graphicFrame>
        <p:nvGraphicFramePr>
          <p:cNvPr id="20" name="Table 19">
            <a:extLst>
              <a:ext uri="{FF2B5EF4-FFF2-40B4-BE49-F238E27FC236}">
                <a16:creationId xmlns:a16="http://schemas.microsoft.com/office/drawing/2014/main" id="{96F4D91C-D364-D7CC-55CE-FDB55D4FB9A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4281405"/>
              </p:ext>
            </p:extLst>
          </p:nvPr>
        </p:nvGraphicFramePr>
        <p:xfrm>
          <a:off x="2767084" y="3155708"/>
          <a:ext cx="1455931" cy="281940"/>
        </p:xfrm>
        <a:graphic>
          <a:graphicData uri="http://schemas.openxmlformats.org/drawingml/2006/table">
            <a:tbl>
              <a:tblPr/>
              <a:tblGrid>
                <a:gridCol w="1455931">
                  <a:extLst>
                    <a:ext uri="{9D8B030D-6E8A-4147-A177-3AD203B41FA5}">
                      <a16:colId xmlns:a16="http://schemas.microsoft.com/office/drawing/2014/main" val="1103025908"/>
                    </a:ext>
                  </a:extLst>
                </a:gridCol>
              </a:tblGrid>
              <a:tr h="158741">
                <a:tc>
                  <a:txBody>
                    <a:bodyPr/>
                    <a:lstStyle/>
                    <a:p>
                      <a:pPr algn="ctr" fontAlgn="t">
                        <a:lnSpc>
                          <a:spcPts val="1500"/>
                        </a:lnSpc>
                        <a:buNone/>
                      </a:pPr>
                      <a:r>
                        <a:rPr lang="en-US" sz="1050" b="1" i="0" dirty="0"/>
                        <a:t>SIYARAM SHARMA</a:t>
                      </a:r>
                    </a:p>
                  </a:txBody>
                  <a:tcPr anchor="ctr">
                    <a:lnL w="762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89423403"/>
                  </a:ext>
                </a:extLst>
              </a:tr>
            </a:tbl>
          </a:graphicData>
        </a:graphic>
      </p:graphicFrame>
      <p:graphicFrame>
        <p:nvGraphicFramePr>
          <p:cNvPr id="22" name="Table 21">
            <a:extLst>
              <a:ext uri="{FF2B5EF4-FFF2-40B4-BE49-F238E27FC236}">
                <a16:creationId xmlns:a16="http://schemas.microsoft.com/office/drawing/2014/main" id="{3F3A8BC7-18BE-D208-DD9B-B1F83FDE267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30685319"/>
              </p:ext>
            </p:extLst>
          </p:nvPr>
        </p:nvGraphicFramePr>
        <p:xfrm>
          <a:off x="4521127" y="3155708"/>
          <a:ext cx="1291793" cy="461772"/>
        </p:xfrm>
        <a:graphic>
          <a:graphicData uri="http://schemas.openxmlformats.org/drawingml/2006/table">
            <a:tbl>
              <a:tblPr/>
              <a:tblGrid>
                <a:gridCol w="1291793">
                  <a:extLst>
                    <a:ext uri="{9D8B030D-6E8A-4147-A177-3AD203B41FA5}">
                      <a16:colId xmlns:a16="http://schemas.microsoft.com/office/drawing/2014/main" val="1103025908"/>
                    </a:ext>
                  </a:extLst>
                </a:gridCol>
              </a:tblGrid>
              <a:tr h="158741">
                <a:tc>
                  <a:txBody>
                    <a:bodyPr/>
                    <a:lstStyle/>
                    <a:p>
                      <a:pPr lvl="0" algn="ctr">
                        <a:lnSpc>
                          <a:spcPts val="1500"/>
                        </a:lnSpc>
                        <a:buNone/>
                      </a:pPr>
                      <a:r>
                        <a:rPr lang="en-US" sz="1050" b="1" i="0" u="none" strike="noStrike" noProof="0" dirty="0">
                          <a:latin typeface="Aptos"/>
                        </a:rPr>
                        <a:t>SAHIL RAMESH CHAWLA </a:t>
                      </a:r>
                      <a:endParaRPr lang="en-US" sz="1050" b="1" i="1" dirty="0"/>
                    </a:p>
                  </a:txBody>
                  <a:tcPr anchor="ctr">
                    <a:lnL w="762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89423403"/>
                  </a:ext>
                </a:extLst>
              </a:tr>
            </a:tbl>
          </a:graphicData>
        </a:graphic>
      </p:graphicFrame>
      <p:graphicFrame>
        <p:nvGraphicFramePr>
          <p:cNvPr id="24" name="Table 23">
            <a:extLst>
              <a:ext uri="{FF2B5EF4-FFF2-40B4-BE49-F238E27FC236}">
                <a16:creationId xmlns:a16="http://schemas.microsoft.com/office/drawing/2014/main" id="{A3B4729F-3D46-6DA1-82F5-D533FCB7488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48606663"/>
              </p:ext>
            </p:extLst>
          </p:nvPr>
        </p:nvGraphicFramePr>
        <p:xfrm>
          <a:off x="6275170" y="3155708"/>
          <a:ext cx="1291793" cy="461772"/>
        </p:xfrm>
        <a:graphic>
          <a:graphicData uri="http://schemas.openxmlformats.org/drawingml/2006/table">
            <a:tbl>
              <a:tblPr/>
              <a:tblGrid>
                <a:gridCol w="1291793">
                  <a:extLst>
                    <a:ext uri="{9D8B030D-6E8A-4147-A177-3AD203B41FA5}">
                      <a16:colId xmlns:a16="http://schemas.microsoft.com/office/drawing/2014/main" val="1103025908"/>
                    </a:ext>
                  </a:extLst>
                </a:gridCol>
              </a:tblGrid>
              <a:tr h="158741">
                <a:tc>
                  <a:txBody>
                    <a:bodyPr/>
                    <a:lstStyle/>
                    <a:p>
                      <a:pPr lvl="0" algn="ctr">
                        <a:lnSpc>
                          <a:spcPts val="1500"/>
                        </a:lnSpc>
                        <a:buNone/>
                      </a:pPr>
                      <a:r>
                        <a:rPr lang="en-US" sz="1050" b="1" i="0" u="none" strike="noStrike" noProof="0">
                          <a:latin typeface="Aptos"/>
                        </a:rPr>
                        <a:t>ABHISHEK DAMODAR BAPAT </a:t>
                      </a:r>
                      <a:endParaRPr lang="en-US" b="1"/>
                    </a:p>
                  </a:txBody>
                  <a:tcPr anchor="ctr">
                    <a:lnL w="762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89423403"/>
                  </a:ext>
                </a:extLst>
              </a:tr>
            </a:tbl>
          </a:graphicData>
        </a:graphic>
      </p:graphicFrame>
      <p:graphicFrame>
        <p:nvGraphicFramePr>
          <p:cNvPr id="26" name="Table 25">
            <a:extLst>
              <a:ext uri="{FF2B5EF4-FFF2-40B4-BE49-F238E27FC236}">
                <a16:creationId xmlns:a16="http://schemas.microsoft.com/office/drawing/2014/main" id="{E7E1E9E8-BF93-BE52-681F-C53ACFA3259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57611208"/>
              </p:ext>
            </p:extLst>
          </p:nvPr>
        </p:nvGraphicFramePr>
        <p:xfrm>
          <a:off x="8029213" y="3155708"/>
          <a:ext cx="1291793" cy="461772"/>
        </p:xfrm>
        <a:graphic>
          <a:graphicData uri="http://schemas.openxmlformats.org/drawingml/2006/table">
            <a:tbl>
              <a:tblPr/>
              <a:tblGrid>
                <a:gridCol w="1291793">
                  <a:extLst>
                    <a:ext uri="{9D8B030D-6E8A-4147-A177-3AD203B41FA5}">
                      <a16:colId xmlns:a16="http://schemas.microsoft.com/office/drawing/2014/main" val="1103025908"/>
                    </a:ext>
                  </a:extLst>
                </a:gridCol>
              </a:tblGrid>
              <a:tr h="158741">
                <a:tc>
                  <a:txBody>
                    <a:bodyPr/>
                    <a:lstStyle/>
                    <a:p>
                      <a:pPr lvl="0" algn="ctr">
                        <a:lnSpc>
                          <a:spcPts val="1500"/>
                        </a:lnSpc>
                        <a:buNone/>
                      </a:pPr>
                      <a:r>
                        <a:rPr lang="en-US" sz="1050" b="1" i="0" u="none" strike="noStrike" noProof="0">
                          <a:latin typeface="Aptos"/>
                        </a:rPr>
                        <a:t>ADITYA JALINDAR LAD </a:t>
                      </a:r>
                      <a:endParaRPr lang="en-US" b="1"/>
                    </a:p>
                  </a:txBody>
                  <a:tcPr anchor="ctr">
                    <a:lnL w="762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89423403"/>
                  </a:ext>
                </a:extLst>
              </a:tr>
            </a:tbl>
          </a:graphicData>
        </a:graphic>
      </p:graphicFrame>
      <p:graphicFrame>
        <p:nvGraphicFramePr>
          <p:cNvPr id="28" name="Table 27">
            <a:extLst>
              <a:ext uri="{FF2B5EF4-FFF2-40B4-BE49-F238E27FC236}">
                <a16:creationId xmlns:a16="http://schemas.microsoft.com/office/drawing/2014/main" id="{64E60F1D-4903-94ED-D7C9-DC33C0DDDDD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03882524"/>
              </p:ext>
            </p:extLst>
          </p:nvPr>
        </p:nvGraphicFramePr>
        <p:xfrm>
          <a:off x="9783255" y="3155708"/>
          <a:ext cx="1291793" cy="461772"/>
        </p:xfrm>
        <a:graphic>
          <a:graphicData uri="http://schemas.openxmlformats.org/drawingml/2006/table">
            <a:tbl>
              <a:tblPr/>
              <a:tblGrid>
                <a:gridCol w="1291793">
                  <a:extLst>
                    <a:ext uri="{9D8B030D-6E8A-4147-A177-3AD203B41FA5}">
                      <a16:colId xmlns:a16="http://schemas.microsoft.com/office/drawing/2014/main" val="1103025908"/>
                    </a:ext>
                  </a:extLst>
                </a:gridCol>
              </a:tblGrid>
              <a:tr h="158741">
                <a:tc>
                  <a:txBody>
                    <a:bodyPr/>
                    <a:lstStyle/>
                    <a:p>
                      <a:pPr lvl="0" algn="ctr">
                        <a:lnSpc>
                          <a:spcPts val="1500"/>
                        </a:lnSpc>
                        <a:buNone/>
                      </a:pPr>
                      <a:r>
                        <a:rPr lang="en-US" sz="1050" b="1" i="0" u="none" strike="noStrike" noProof="0"/>
                        <a:t>JATIN LALIT CHAUDHARI </a:t>
                      </a:r>
                      <a:endParaRPr lang="en-US" b="1"/>
                    </a:p>
                  </a:txBody>
                  <a:tcPr anchor="ctr">
                    <a:lnL w="762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89423403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0E1FA11D-96F7-EC45-205B-A3A6F2625FB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43037719"/>
              </p:ext>
            </p:extLst>
          </p:nvPr>
        </p:nvGraphicFramePr>
        <p:xfrm>
          <a:off x="527538" y="3751384"/>
          <a:ext cx="10889672" cy="2562434"/>
        </p:xfrm>
        <a:graphic>
          <a:graphicData uri="http://schemas.openxmlformats.org/drawingml/2006/table">
            <a:tbl>
              <a:tblPr/>
              <a:tblGrid>
                <a:gridCol w="2212597">
                  <a:extLst>
                    <a:ext uri="{9D8B030D-6E8A-4147-A177-3AD203B41FA5}">
                      <a16:colId xmlns:a16="http://schemas.microsoft.com/office/drawing/2014/main" val="3837900683"/>
                    </a:ext>
                  </a:extLst>
                </a:gridCol>
                <a:gridCol w="8677075">
                  <a:extLst>
                    <a:ext uri="{9D8B030D-6E8A-4147-A177-3AD203B41FA5}">
                      <a16:colId xmlns:a16="http://schemas.microsoft.com/office/drawing/2014/main" val="2834952688"/>
                    </a:ext>
                  </a:extLst>
                </a:gridCol>
              </a:tblGrid>
              <a:tr h="42504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00" b="1" i="0" u="none" strike="noStrike" dirty="0">
                        <a:solidFill>
                          <a:srgbClr val="FFFFFF"/>
                        </a:solidFill>
                        <a:effectLst/>
                        <a:latin typeface="+mn-lt"/>
                        <a:cs typeface="Segoe UI" panose="020B0502040204020203" pitchFamily="34" charset="0"/>
                      </a:endParaRPr>
                    </a:p>
                  </a:txBody>
                  <a:tcPr marL="1538" marR="1538" marT="153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+mn-lt"/>
                          <a:cs typeface="Segoe UI"/>
                        </a:rPr>
                        <a:t>Description</a:t>
                      </a:r>
                      <a:endParaRPr lang="en-US"/>
                    </a:p>
                  </a:txBody>
                  <a:tcPr marL="1538" marR="1538" marT="153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85367349"/>
                  </a:ext>
                </a:extLst>
              </a:tr>
              <a:tr h="522203">
                <a:tc>
                  <a:txBody>
                    <a:bodyPr/>
                    <a:lstStyle/>
                    <a:p>
                      <a:pPr marL="50800" indent="0" algn="l" fontAlgn="t">
                        <a:buNone/>
                      </a:pPr>
                      <a:r>
                        <a:rPr lang="en-US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  <a:cs typeface="Segoe UI"/>
                        </a:rPr>
                        <a:t>Team Name</a:t>
                      </a:r>
                      <a:endParaRPr lang="en-US"/>
                    </a:p>
                  </a:txBody>
                  <a:tcPr marL="1538" marR="1538" marT="153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0" i="0" u="none" strike="noStrike" kern="1200" noProof="0" dirty="0">
                          <a:solidFill>
                            <a:schemeClr val="tx1"/>
                          </a:solidFill>
                          <a:effectLst/>
                          <a:latin typeface="Aptos"/>
                          <a:ea typeface="+mn-ea"/>
                          <a:cs typeface="Segoe UI"/>
                        </a:rPr>
                        <a:t>     </a:t>
                      </a:r>
                      <a:endParaRPr lang="en-US" sz="900" b="0" i="0" u="none" strike="noStrike" kern="1200" noProof="0" dirty="0">
                        <a:solidFill>
                          <a:srgbClr val="1A1A1A"/>
                        </a:solidFill>
                        <a:effectLst/>
                        <a:latin typeface="Aptos"/>
                        <a:ea typeface="+mn-ea"/>
                        <a:cs typeface="Segoe UI"/>
                      </a:endParaRP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i="0" u="none" strike="noStrike" kern="1200" noProof="0" dirty="0">
                          <a:solidFill>
                            <a:schemeClr val="tx1"/>
                          </a:solidFill>
                          <a:effectLst/>
                          <a:latin typeface="Aptos"/>
                          <a:ea typeface="+mn-ea"/>
                          <a:cs typeface="Segoe UI"/>
                        </a:rPr>
                        <a:t>   </a:t>
                      </a:r>
                      <a:r>
                        <a:rPr lang="en-US" sz="1000" b="1" i="0" u="none" strike="noStrike" kern="1200" noProof="0" dirty="0" err="1">
                          <a:solidFill>
                            <a:schemeClr val="tx1"/>
                          </a:solidFill>
                          <a:effectLst/>
                          <a:latin typeface="Aptos"/>
                          <a:ea typeface="+mn-ea"/>
                          <a:cs typeface="Segoe UI"/>
                        </a:rPr>
                        <a:t>ReportRangers</a:t>
                      </a:r>
                      <a:endParaRPr lang="en-US" sz="1200" b="1" i="0" u="none" strike="noStrike" kern="1200" noProof="0" dirty="0" err="1">
                        <a:solidFill>
                          <a:srgbClr val="1A1A1A"/>
                        </a:solidFill>
                        <a:effectLst/>
                        <a:latin typeface="Aptos"/>
                        <a:ea typeface="+mn-ea"/>
                        <a:cs typeface="Segoe UI"/>
                      </a:endParaRPr>
                    </a:p>
                    <a:p>
                      <a:pPr marL="115570" lvl="0" indent="0" algn="l">
                        <a:buNone/>
                      </a:pPr>
                      <a:endParaRPr lang="en-US" sz="1000" b="0" i="1" u="none" strike="noStrike" kern="1200">
                        <a:solidFill>
                          <a:srgbClr val="666666"/>
                        </a:solidFill>
                        <a:effectLst/>
                        <a:latin typeface="+mn-lt"/>
                        <a:ea typeface="+mn-ea"/>
                        <a:cs typeface="Segoe UI"/>
                      </a:endParaRPr>
                    </a:p>
                  </a:txBody>
                  <a:tcPr marL="1538" marR="1538" marT="153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31949689"/>
                  </a:ext>
                </a:extLst>
              </a:tr>
              <a:tr h="765087">
                <a:tc>
                  <a:txBody>
                    <a:bodyPr/>
                    <a:lstStyle/>
                    <a:p>
                      <a:pPr marL="50800" indent="0" algn="l" rtl="0" eaLnBrk="1" fontAlgn="t" latinLnBrk="0" hangingPunct="1">
                        <a:buNone/>
                      </a:pPr>
                      <a:r>
                        <a:rPr lang="en-US" sz="10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Segoe UI"/>
                        </a:rPr>
                        <a:t>Chosen Challenge Statement</a:t>
                      </a:r>
                      <a:endParaRPr lang="en-US" dirty="0"/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000" b="0" i="0" u="none" strike="noStrike" kern="1200" noProof="0" dirty="0">
                          <a:solidFill>
                            <a:srgbClr val="1D1C1D"/>
                          </a:solidFill>
                          <a:effectLst/>
                          <a:latin typeface="Aptos"/>
                          <a:ea typeface="+mn-ea"/>
                          <a:cs typeface="Segoe UI"/>
                        </a:rPr>
                        <a:t>How can AI automate and unify learning analytics to improve workforce readiness and eliminate</a:t>
                      </a:r>
                      <a:r>
                        <a:rPr lang="en-IN" sz="1000" b="0" i="0" u="none" strike="noStrike" kern="1200" noProof="0">
                          <a:solidFill>
                            <a:srgbClr val="1D1C1D"/>
                          </a:solidFill>
                          <a:effectLst/>
                          <a:latin typeface="Aptos"/>
                          <a:ea typeface="+mn-ea"/>
                          <a:cs typeface="Segoe UI"/>
                        </a:rPr>
                        <a:t> manual reporting?</a:t>
                      </a:r>
                      <a:endParaRPr lang="en-US" sz="1200" b="0" i="0" u="none" strike="noStrike" kern="1200" noProof="0">
                        <a:solidFill>
                          <a:srgbClr val="1A1A1A"/>
                        </a:solidFill>
                        <a:effectLst/>
                        <a:latin typeface="Aptos"/>
                        <a:ea typeface="+mn-ea"/>
                        <a:cs typeface="Segoe UI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6839416"/>
                  </a:ext>
                </a:extLst>
              </a:tr>
              <a:tr h="425048">
                <a:tc>
                  <a:txBody>
                    <a:bodyPr/>
                    <a:lstStyle/>
                    <a:p>
                      <a:pPr marL="50800" indent="0" algn="l" rtl="0" eaLnBrk="1" fontAlgn="t" latinLnBrk="0" hangingPunct="1">
                        <a:buNone/>
                      </a:pPr>
                      <a:r>
                        <a:rPr lang="en-US" sz="1000" b="1" i="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Segoe UI"/>
                        </a:rPr>
                        <a:t>Idea Name</a:t>
                      </a:r>
                      <a:endParaRPr lang="en-US"/>
                    </a:p>
                  </a:txBody>
                  <a:tcPr marL="1538" marR="1538" marT="153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000" b="0" i="0" u="none" strike="noStrike" kern="1200" noProof="0">
                          <a:solidFill>
                            <a:srgbClr val="1A1A1A"/>
                          </a:solidFill>
                          <a:effectLst/>
                          <a:latin typeface="Aptos"/>
                          <a:ea typeface="+mn-ea"/>
                          <a:cs typeface="Segoe UI"/>
                        </a:rPr>
                        <a:t>  Learning Report Agent for Unified Analytics</a:t>
                      </a:r>
                      <a:endParaRPr lang="en-US" sz="1200" b="0" i="0" u="none" strike="noStrike" kern="1200" noProof="0">
                        <a:solidFill>
                          <a:srgbClr val="1A1A1A"/>
                        </a:solidFill>
                        <a:effectLst/>
                        <a:latin typeface="Aptos"/>
                        <a:ea typeface="+mn-ea"/>
                        <a:cs typeface="Segoe UI"/>
                      </a:endParaRP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26692221"/>
                  </a:ext>
                </a:extLst>
              </a:tr>
              <a:tr h="425048">
                <a:tc>
                  <a:txBody>
                    <a:bodyPr/>
                    <a:lstStyle/>
                    <a:p>
                      <a:pPr marL="50800" indent="0" algn="l" rtl="0" eaLnBrk="1" fontAlgn="t" latinLnBrk="0" hangingPunct="1">
                        <a:buNone/>
                      </a:pPr>
                      <a:r>
                        <a:rPr lang="en-US" sz="10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Segoe UI"/>
                        </a:rPr>
                        <a:t>Problem Statement</a:t>
                      </a:r>
                      <a:endParaRPr lang="en-US"/>
                    </a:p>
                  </a:txBody>
                  <a:tcPr marL="1538" marR="1538" marT="153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000" b="0" i="0" u="none" strike="noStrike" kern="1200" noProof="0">
                          <a:solidFill>
                            <a:srgbClr val="1A1A1A"/>
                          </a:solidFill>
                          <a:effectLst/>
                          <a:latin typeface="Aptos"/>
                          <a:ea typeface="+mn-ea"/>
                          <a:cs typeface="Segoe UI"/>
                        </a:rPr>
                        <a:t>  Learning and workforce data is highly fragmented across LMS, SharePoint, Excel, and HR systems. This creates heavy manual reporting efforts, delayed       insights, and inconsistent metrics, leaving leadership without real-time visibility into workforce readiness.</a:t>
                      </a:r>
                      <a:endParaRPr lang="en-US" sz="1200" b="0" i="0" u="none" strike="noStrike" kern="1200" noProof="0">
                        <a:solidFill>
                          <a:srgbClr val="1A1A1A"/>
                        </a:solidFill>
                        <a:effectLst/>
                        <a:latin typeface="Aptos"/>
                        <a:ea typeface="+mn-ea"/>
                        <a:cs typeface="Segoe UI"/>
                      </a:endParaRP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37537464"/>
                  </a:ext>
                </a:extLst>
              </a:tr>
            </a:tbl>
          </a:graphicData>
        </a:graphic>
      </p:graphicFrame>
      <p:pic>
        <p:nvPicPr>
          <p:cNvPr id="2" name="Picture 1" descr="A person in a suit  AI-generated content may be incorrect.">
            <a:extLst>
              <a:ext uri="{FF2B5EF4-FFF2-40B4-BE49-F238E27FC236}">
                <a16:creationId xmlns:a16="http://schemas.microsoft.com/office/drawing/2014/main" id="{32DC7557-A2D1-20AB-6BA7-035136CC59D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704" r="704" b="-637"/>
          <a:stretch>
            <a:fillRect/>
          </a:stretch>
        </p:blipFill>
        <p:spPr>
          <a:xfrm>
            <a:off x="973138" y="1612560"/>
            <a:ext cx="1371600" cy="1371600"/>
          </a:xfrm>
          <a:prstGeom prst="ellipse">
            <a:avLst/>
          </a:prstGeom>
        </p:spPr>
      </p:pic>
      <p:pic>
        <p:nvPicPr>
          <p:cNvPr id="5" name="Picture 4" descr="A person wearing glasses and a blue shirt  AI-generated content may be incorrect.">
            <a:extLst>
              <a:ext uri="{FF2B5EF4-FFF2-40B4-BE49-F238E27FC236}">
                <a16:creationId xmlns:a16="http://schemas.microsoft.com/office/drawing/2014/main" id="{E4EF3BFF-97C2-78FA-D41E-F7327032DFF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3333" r="2667" b="-637"/>
          <a:stretch>
            <a:fillRect/>
          </a:stretch>
        </p:blipFill>
        <p:spPr>
          <a:xfrm>
            <a:off x="4481224" y="1612560"/>
            <a:ext cx="1371600" cy="1371600"/>
          </a:xfrm>
          <a:prstGeom prst="ellipse">
            <a:avLst/>
          </a:prstGeom>
        </p:spPr>
      </p:pic>
      <p:pic>
        <p:nvPicPr>
          <p:cNvPr id="7" name="Picture 6" descr="A person wearing glasses and a red shirt  AI-generated content may be incorrect.">
            <a:extLst>
              <a:ext uri="{FF2B5EF4-FFF2-40B4-BE49-F238E27FC236}">
                <a16:creationId xmlns:a16="http://schemas.microsoft.com/office/drawing/2014/main" id="{26197611-51C4-F323-8C91-3A05D684358F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8347" t="8790" r="11219" b="301"/>
          <a:stretch>
            <a:fillRect/>
          </a:stretch>
        </p:blipFill>
        <p:spPr>
          <a:xfrm>
            <a:off x="6256386" y="1615419"/>
            <a:ext cx="1335615" cy="1373556"/>
          </a:xfrm>
          <a:prstGeom prst="ellipse">
            <a:avLst/>
          </a:prstGeom>
        </p:spPr>
      </p:pic>
      <p:pic>
        <p:nvPicPr>
          <p:cNvPr id="9" name="Picture 8" descr="A person in a suit  AI-generated content may be incorrect.">
            <a:extLst>
              <a:ext uri="{FF2B5EF4-FFF2-40B4-BE49-F238E27FC236}">
                <a16:creationId xmlns:a16="http://schemas.microsoft.com/office/drawing/2014/main" id="{6AD8B1EF-BCA1-3CFF-2C0E-FFF9365C9476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r="-704" b="-637"/>
          <a:stretch>
            <a:fillRect/>
          </a:stretch>
        </p:blipFill>
        <p:spPr>
          <a:xfrm>
            <a:off x="7989310" y="1612560"/>
            <a:ext cx="1371600" cy="1371600"/>
          </a:xfrm>
          <a:prstGeom prst="ellipse">
            <a:avLst/>
          </a:prstGeom>
        </p:spPr>
      </p:pic>
      <p:pic>
        <p:nvPicPr>
          <p:cNvPr id="11" name="Picture 10" descr="A person in a suit  AI-generated content may be incorrect.">
            <a:extLst>
              <a:ext uri="{FF2B5EF4-FFF2-40B4-BE49-F238E27FC236}">
                <a16:creationId xmlns:a16="http://schemas.microsoft.com/office/drawing/2014/main" id="{A1C35B65-64FC-FBB2-FD05-BB6302A15D0E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t="1242" r="-714" b="621"/>
          <a:stretch>
            <a:fillRect/>
          </a:stretch>
        </p:blipFill>
        <p:spPr>
          <a:xfrm>
            <a:off x="9743352" y="1612560"/>
            <a:ext cx="1371600" cy="1371600"/>
          </a:xfrm>
          <a:prstGeom prst="ellipse">
            <a:avLst/>
          </a:prstGeom>
        </p:spPr>
      </p:pic>
      <p:pic>
        <p:nvPicPr>
          <p:cNvPr id="13" name="Picture 12" descr="A person with a mustache  AI-generated content may be incorrect.">
            <a:extLst>
              <a:ext uri="{FF2B5EF4-FFF2-40B4-BE49-F238E27FC236}">
                <a16:creationId xmlns:a16="http://schemas.microsoft.com/office/drawing/2014/main" id="{07CF2861-326C-0E6E-31CB-08BDD1E2A15B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l="5696" r="5696" b="-637"/>
          <a:stretch>
            <a:fillRect/>
          </a:stretch>
        </p:blipFill>
        <p:spPr>
          <a:xfrm>
            <a:off x="2727181" y="1612560"/>
            <a:ext cx="1371600" cy="1371600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31985158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15D97D1-CF92-DE26-1E76-97725FDFD562}"/>
              </a:ext>
            </a:extLst>
          </p:cNvPr>
          <p:cNvSpPr txBox="1"/>
          <p:nvPr/>
        </p:nvSpPr>
        <p:spPr>
          <a:xfrm>
            <a:off x="598988" y="582984"/>
            <a:ext cx="6096000" cy="52322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sz="2800" b="1" dirty="0">
                <a:solidFill>
                  <a:srgbClr val="1A1A1A"/>
                </a:solidFill>
                <a:latin typeface="Aptos Display" panose="02110004020202020204"/>
              </a:rPr>
              <a:t>Technical </a:t>
            </a:r>
            <a:r>
              <a:rPr lang="en-IN" sz="2800" b="1">
                <a:solidFill>
                  <a:srgbClr val="1A1A1A"/>
                </a:solidFill>
                <a:latin typeface="Aptos Display" panose="02110004020202020204"/>
              </a:rPr>
              <a:t>Architecture</a:t>
            </a:r>
            <a:endParaRPr kumimoji="0" lang="en-US" sz="2800" b="1" i="0" u="none" strike="noStrike" kern="1200" cap="none" spc="0" normalizeH="0" baseline="0" noProof="0" dirty="0" err="1">
              <a:ln>
                <a:noFill/>
              </a:ln>
              <a:solidFill>
                <a:srgbClr val="1A1A1A"/>
              </a:solidFill>
              <a:effectLst/>
              <a:uLnTx/>
              <a:uFillTx/>
              <a:latin typeface="Aptos Display" panose="02110004020202020204"/>
              <a:ea typeface="+mn-ea"/>
              <a:cs typeface="+mn-cs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64385FB-0AD9-832C-E333-06139383662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2639505" y="1199225"/>
            <a:ext cx="8427563" cy="53242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90920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7B2B88-AEA9-64D5-6143-7873FA0391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81B427C-3F23-B38F-8061-42E3F57B0ED4}"/>
              </a:ext>
            </a:extLst>
          </p:cNvPr>
          <p:cNvSpPr txBox="1"/>
          <p:nvPr/>
        </p:nvSpPr>
        <p:spPr>
          <a:xfrm>
            <a:off x="598988" y="573215"/>
            <a:ext cx="6096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sz="2800" b="1" dirty="0">
                <a:solidFill>
                  <a:srgbClr val="1A1A1A"/>
                </a:solidFill>
                <a:latin typeface="Aptos Display" panose="02110004020202020204"/>
              </a:rPr>
              <a:t>Technical Architecture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rgbClr val="1A1A1A"/>
              </a:solidFill>
              <a:effectLst/>
              <a:uLnTx/>
              <a:uFillTx/>
              <a:latin typeface="Aptos Display" panose="02110004020202020204"/>
              <a:ea typeface="+mn-ea"/>
              <a:cs typeface="+mn-cs"/>
            </a:endParaRPr>
          </a:p>
        </p:txBody>
      </p:sp>
      <p:graphicFrame>
        <p:nvGraphicFramePr>
          <p:cNvPr id="27" name="Table 26">
            <a:extLst>
              <a:ext uri="{FF2B5EF4-FFF2-40B4-BE49-F238E27FC236}">
                <a16:creationId xmlns:a16="http://schemas.microsoft.com/office/drawing/2014/main" id="{11685646-9E41-AC25-581B-AF9F3E22960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00068243"/>
              </p:ext>
            </p:extLst>
          </p:nvPr>
        </p:nvGraphicFramePr>
        <p:xfrm>
          <a:off x="1055076" y="1211384"/>
          <a:ext cx="10565793" cy="5064884"/>
        </p:xfrm>
        <a:graphic>
          <a:graphicData uri="http://schemas.openxmlformats.org/drawingml/2006/table">
            <a:tbl>
              <a:tblPr/>
              <a:tblGrid>
                <a:gridCol w="2632487">
                  <a:extLst>
                    <a:ext uri="{9D8B030D-6E8A-4147-A177-3AD203B41FA5}">
                      <a16:colId xmlns:a16="http://schemas.microsoft.com/office/drawing/2014/main" val="3837900683"/>
                    </a:ext>
                  </a:extLst>
                </a:gridCol>
                <a:gridCol w="7933306">
                  <a:extLst>
                    <a:ext uri="{9D8B030D-6E8A-4147-A177-3AD203B41FA5}">
                      <a16:colId xmlns:a16="http://schemas.microsoft.com/office/drawing/2014/main" val="2834952688"/>
                    </a:ext>
                  </a:extLst>
                </a:gridCol>
              </a:tblGrid>
              <a:tr h="37984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00" b="1" i="0" u="none" strike="noStrike" dirty="0">
                        <a:solidFill>
                          <a:srgbClr val="FFFFFF"/>
                        </a:solidFill>
                        <a:effectLst/>
                        <a:latin typeface="+mn-lt"/>
                        <a:cs typeface="Segoe UI" panose="020B0502040204020203" pitchFamily="34" charset="0"/>
                      </a:endParaRPr>
                    </a:p>
                  </a:txBody>
                  <a:tcPr marL="1538" marR="1538" marT="153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+mn-lt"/>
                          <a:cs typeface="Segoe UI" panose="020B0502040204020203" pitchFamily="34" charset="0"/>
                        </a:rPr>
                        <a:t>Description</a:t>
                      </a:r>
                    </a:p>
                  </a:txBody>
                  <a:tcPr marL="1538" marR="1538" marT="153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85367349"/>
                  </a:ext>
                </a:extLst>
              </a:tr>
              <a:tr h="2302834">
                <a:tc>
                  <a:txBody>
                    <a:bodyPr/>
                    <a:lstStyle/>
                    <a:p>
                      <a:pPr marL="50800" indent="0" algn="l" defTabSz="914400" rtl="0" eaLnBrk="1" fontAlgn="t" latinLnBrk="0" hangingPunct="1">
                        <a:buNone/>
                      </a:pPr>
                      <a:r>
                        <a:rPr lang="en-US" sz="12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Segoe UI" panose="020B0502040204020203" pitchFamily="34" charset="0"/>
                        </a:rPr>
                        <a:t>Core Components</a:t>
                      </a:r>
                    </a:p>
                    <a:p>
                      <a:pPr marL="50800" indent="0" algn="l" defTabSz="914400" rtl="0" eaLnBrk="1" fontAlgn="t" latinLnBrk="0" hangingPunct="1">
                        <a:buNone/>
                      </a:pPr>
                      <a:endParaRPr lang="en-US" sz="1200" b="1" i="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Segoe UI" panose="020B0502040204020203" pitchFamily="34" charset="0"/>
                      </a:endParaRPr>
                    </a:p>
                    <a:p>
                      <a:pPr marL="5080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Segoe UI" panose="020B0502040204020203" pitchFamily="34" charset="0"/>
                        </a:rPr>
                        <a:t>(Microsoft Technology / Services Touched)</a:t>
                      </a:r>
                    </a:p>
                  </a:txBody>
                  <a:tcPr marL="1538" marR="1538" marT="153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IN" sz="1200" b="1" dirty="0"/>
                        <a:t>Data Foundation:</a:t>
                      </a:r>
                      <a:r>
                        <a:rPr lang="en-IN" sz="1200" dirty="0"/>
                        <a:t> Azure Data Factory (Orchestration), and Azure Databricks (Medallion Architecture / Delta Lake).</a:t>
                      </a:r>
                    </a:p>
                    <a:p>
                      <a:pPr marL="171450" indent="-171450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IN" sz="1200" b="1" dirty="0"/>
                        <a:t>Application Interface:</a:t>
                      </a:r>
                      <a:r>
                        <a:rPr lang="en-IN" sz="1200" dirty="0"/>
                        <a:t> </a:t>
                      </a:r>
                      <a:r>
                        <a:rPr lang="en-IN" sz="1200" b="0" dirty="0" err="1"/>
                        <a:t>Streamlit</a:t>
                      </a:r>
                      <a:r>
                        <a:rPr lang="en-IN" sz="1200" b="0" dirty="0"/>
                        <a:t> </a:t>
                      </a:r>
                      <a:r>
                        <a:rPr lang="en-IN" sz="1200" dirty="0"/>
                        <a:t>(Serves as the unified front-end, replacing standard BI dashboards).</a:t>
                      </a:r>
                    </a:p>
                    <a:p>
                      <a:pPr marL="171450" indent="-171450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IN" sz="1200" b="1" dirty="0"/>
                        <a:t>AI Analytics Engine:</a:t>
                      </a:r>
                      <a:r>
                        <a:rPr lang="en-IN" sz="1200" dirty="0"/>
                        <a:t> </a:t>
                      </a:r>
                      <a:r>
                        <a:rPr lang="en-IN" sz="1200" b="0" dirty="0" err="1"/>
                        <a:t>LangChain</a:t>
                      </a:r>
                      <a:r>
                        <a:rPr lang="en-IN" sz="1200" b="0" dirty="0"/>
                        <a:t> Experimental Pandas Agent </a:t>
                      </a:r>
                      <a:r>
                        <a:rPr lang="en-IN" sz="1200" dirty="0"/>
                        <a:t>(Dynamic routing that executes Python code in real-time instead of hardcoded SQL).</a:t>
                      </a:r>
                    </a:p>
                    <a:p>
                      <a:pPr marL="171450" indent="-171450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IN" sz="1200" b="1" dirty="0"/>
                        <a:t>Language Model (POC):</a:t>
                      </a:r>
                      <a:r>
                        <a:rPr lang="en-IN" sz="1200" dirty="0"/>
                        <a:t> Local </a:t>
                      </a:r>
                      <a:r>
                        <a:rPr lang="en-IN" sz="1200" b="0" dirty="0"/>
                        <a:t>Llama 3.1 via </a:t>
                      </a:r>
                      <a:r>
                        <a:rPr lang="en-IN" sz="1200" b="0" dirty="0" err="1"/>
                        <a:t>Ollama</a:t>
                      </a:r>
                      <a:r>
                        <a:rPr lang="en-IN" sz="1200" b="0" dirty="0"/>
                        <a:t> </a:t>
                      </a:r>
                      <a:r>
                        <a:rPr lang="en-IN" sz="1200" dirty="0"/>
                        <a:t>(Built to easily swap to Azure OpenAI GPT-4o for production).</a:t>
                      </a:r>
                    </a:p>
                    <a:p>
                      <a:pPr marL="171450" indent="-171450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IN" sz="1200" b="1" dirty="0"/>
                        <a:t>Enterprise Dashboards:</a:t>
                      </a:r>
                      <a:r>
                        <a:rPr lang="en-IN" sz="1200" dirty="0"/>
                        <a:t> Power BI (</a:t>
                      </a:r>
                      <a:r>
                        <a:rPr lang="en-IN" sz="1200" dirty="0" err="1"/>
                        <a:t>DirectQuery</a:t>
                      </a:r>
                      <a:r>
                        <a:rPr lang="en-IN" sz="1200" dirty="0"/>
                        <a:t> on Gold layer for standard, real-time L&amp;D metrics).</a:t>
                      </a:r>
                    </a:p>
                    <a:p>
                      <a:pPr marL="171450" indent="-171450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IN" sz="1200" b="1" dirty="0"/>
                        <a:t>Automated Reporting:</a:t>
                      </a:r>
                      <a:r>
                        <a:rPr lang="en-IN" sz="1200" dirty="0"/>
                        <a:t> </a:t>
                      </a:r>
                      <a:r>
                        <a:rPr lang="en-IN" sz="1200" b="0" dirty="0"/>
                        <a:t>Matplotlib</a:t>
                      </a:r>
                      <a:r>
                        <a:rPr lang="en-IN" sz="1200" dirty="0"/>
                        <a:t> (JSON-driven charting) and </a:t>
                      </a:r>
                      <a:r>
                        <a:rPr lang="en-IN" sz="1200" b="0" dirty="0"/>
                        <a:t>FPDF</a:t>
                      </a:r>
                      <a:r>
                        <a:rPr lang="en-IN" sz="1200" dirty="0"/>
                        <a:t> (Automated landscape PDF generation).</a:t>
                      </a:r>
                    </a:p>
                    <a:p>
                      <a:pPr marL="287020" lvl="0" indent="-171450" algn="l">
                        <a:buFont typeface="Arial" panose="020B0604020202020204" pitchFamily="34" charset="0"/>
                        <a:buChar char="•"/>
                      </a:pPr>
                      <a:endParaRPr lang="en-US" sz="1200" b="0" i="1" u="none" strike="noStrike" kern="1200" dirty="0">
                        <a:solidFill>
                          <a:srgbClr val="666666"/>
                        </a:solidFill>
                        <a:effectLst/>
                        <a:latin typeface="+mn-lt"/>
                        <a:ea typeface="+mn-ea"/>
                        <a:cs typeface="Segoe UI"/>
                      </a:endParaRP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26692221"/>
                  </a:ext>
                </a:extLst>
              </a:tr>
              <a:tr h="2302834">
                <a:tc>
                  <a:txBody>
                    <a:bodyPr/>
                    <a:lstStyle/>
                    <a:p>
                      <a:pPr marL="5080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200" b="1" i="0" dirty="0"/>
                        <a:t>Safe AI Execution &amp; Data Governance</a:t>
                      </a:r>
                    </a:p>
                    <a:p>
                      <a:pPr marL="50800" indent="0" algn="l" defTabSz="914400" rtl="0" eaLnBrk="1" fontAlgn="t" latinLnBrk="0" hangingPunct="1">
                        <a:buNone/>
                      </a:pPr>
                      <a:endParaRPr lang="en-US" sz="1200" b="1" i="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L="1538" marR="1538" marT="153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IN" sz="1200" b="1" dirty="0"/>
                        <a:t>Data Minimization &amp; Isolation:</a:t>
                      </a:r>
                      <a:r>
                        <a:rPr lang="en-IN" sz="1200" dirty="0"/>
                        <a:t> The AI agent queries decoupled, pre-aggregated CSV extracts (Gold Layer Materialized Views), ensuring zero direct access to raw HR databases.</a:t>
                      </a:r>
                    </a:p>
                    <a:p>
                      <a:pPr marL="171450" indent="-171450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IN" sz="1200" b="1" dirty="0"/>
                        <a:t>Execution Sandboxing:</a:t>
                      </a:r>
                      <a:r>
                        <a:rPr lang="en-IN" sz="1200" dirty="0"/>
                        <a:t> Separation of concerns—the LLM is restricted to generating JSON specifications for charts, while Matplotlib safely handles the visual rendering to prevent prompt injection crashes.</a:t>
                      </a:r>
                    </a:p>
                    <a:p>
                      <a:pPr marL="171450" indent="-171450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IN" sz="1200" b="1" dirty="0"/>
                        <a:t>Enterprise Data Guardrails:</a:t>
                      </a:r>
                      <a:r>
                        <a:rPr lang="en-IN" sz="1200" dirty="0"/>
                        <a:t> Unity </a:t>
                      </a:r>
                      <a:r>
                        <a:rPr lang="en-IN" sz="1200" dirty="0" err="1"/>
                        <a:t>Catalog</a:t>
                      </a:r>
                      <a:r>
                        <a:rPr lang="en-IN" sz="1200" dirty="0"/>
                        <a:t> (column-level PII masking) and RBAC are enforced at the Databricks Gold Layer before data is passed to the application.</a:t>
                      </a:r>
                    </a:p>
                    <a:p>
                      <a:pPr marL="171450" indent="-171450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IN" sz="1200" b="1" dirty="0"/>
                        <a:t>Deterministic Fallbacks:</a:t>
                      </a:r>
                      <a:r>
                        <a:rPr lang="en-IN" sz="1200" dirty="0"/>
                        <a:t> Regex-based query routing bypasses the LLM entirely for standard KPI requests, eliminating hallucination risks for critical workforce metrics.</a:t>
                      </a:r>
                    </a:p>
                    <a:p>
                      <a:pPr marL="287020" lvl="0" indent="-171450" algn="l" defTabSz="914400">
                        <a:buFont typeface="Arial" panose="020B0604020202020204" pitchFamily="34" charset="0"/>
                        <a:buChar char="•"/>
                      </a:pPr>
                      <a:endParaRPr lang="en-US" sz="1200" b="0" i="1" u="none" strike="noStrike" kern="1200" dirty="0">
                        <a:solidFill>
                          <a:srgbClr val="666666"/>
                        </a:solidFill>
                        <a:effectLst/>
                        <a:latin typeface="+mn-lt"/>
                        <a:ea typeface="+mn-ea"/>
                        <a:cs typeface="Segoe UI"/>
                      </a:endParaRP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5845129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971877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9F797C-AB8B-7893-6DC8-8A4576DA81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0324A474-D0AD-35CD-5DAE-C68B17455C1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88803399"/>
              </p:ext>
            </p:extLst>
          </p:nvPr>
        </p:nvGraphicFramePr>
        <p:xfrm>
          <a:off x="0" y="827973"/>
          <a:ext cx="12180163" cy="5555072"/>
        </p:xfrm>
        <a:graphic>
          <a:graphicData uri="http://schemas.openxmlformats.org/drawingml/2006/table">
            <a:tbl>
              <a:tblPr/>
              <a:tblGrid>
                <a:gridCol w="1881327">
                  <a:extLst>
                    <a:ext uri="{9D8B030D-6E8A-4147-A177-3AD203B41FA5}">
                      <a16:colId xmlns:a16="http://schemas.microsoft.com/office/drawing/2014/main" val="3837900683"/>
                    </a:ext>
                  </a:extLst>
                </a:gridCol>
                <a:gridCol w="10298836">
                  <a:extLst>
                    <a:ext uri="{9D8B030D-6E8A-4147-A177-3AD203B41FA5}">
                      <a16:colId xmlns:a16="http://schemas.microsoft.com/office/drawing/2014/main" val="2834952688"/>
                    </a:ext>
                  </a:extLst>
                </a:gridCol>
              </a:tblGrid>
              <a:tr h="29739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00" b="1" i="0" u="none" strike="noStrike" dirty="0">
                        <a:solidFill>
                          <a:srgbClr val="FFFFFF"/>
                        </a:solidFill>
                        <a:effectLst/>
                        <a:latin typeface="+mn-lt"/>
                        <a:cs typeface="Segoe UI" panose="020B0502040204020203" pitchFamily="34" charset="0"/>
                      </a:endParaRPr>
                    </a:p>
                  </a:txBody>
                  <a:tcPr marL="1538" marR="1538" marT="153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+mn-lt"/>
                          <a:cs typeface="Segoe UI" panose="020B0502040204020203" pitchFamily="34" charset="0"/>
                        </a:rPr>
                        <a:t>Description</a:t>
                      </a:r>
                    </a:p>
                  </a:txBody>
                  <a:tcPr marL="1538" marR="1538" marT="153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85367349"/>
                  </a:ext>
                </a:extLst>
              </a:tr>
              <a:tr h="459965">
                <a:tc>
                  <a:txBody>
                    <a:bodyPr/>
                    <a:lstStyle/>
                    <a:p>
                      <a:pPr marL="50800" indent="0" algn="l" defTabSz="914400" rtl="0" eaLnBrk="1" fontAlgn="t" latinLnBrk="0" hangingPunct="1">
                        <a:buNone/>
                      </a:pPr>
                      <a:r>
                        <a:rPr lang="en-US" sz="10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Segoe UI" panose="020B0502040204020203" pitchFamily="34" charset="0"/>
                        </a:rPr>
                        <a:t>Relevance to Challenge </a:t>
                      </a:r>
                    </a:p>
                  </a:txBody>
                  <a:tcPr marL="1538" marR="1538" marT="153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IN" sz="1050" b="1" dirty="0"/>
                        <a:t>Directly targets fragmented L&amp;D data</a:t>
                      </a:r>
                      <a:r>
                        <a:rPr lang="en-IN" sz="1050" dirty="0"/>
                        <a:t> by ingesting 7 different sources and processing them through a strict Medallion Architecture.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IN" sz="1050" dirty="0"/>
                        <a:t>Computes 5 critical KPIs and delivers instant insights via a </a:t>
                      </a:r>
                      <a:r>
                        <a:rPr lang="en-IN" sz="1050" b="1" dirty="0"/>
                        <a:t>Hybrid </a:t>
                      </a:r>
                      <a:r>
                        <a:rPr lang="en-IN" sz="1050" b="1" dirty="0" err="1"/>
                        <a:t>Streamlit</a:t>
                      </a:r>
                      <a:r>
                        <a:rPr lang="en-IN" sz="1050" b="1" dirty="0"/>
                        <a:t> + </a:t>
                      </a:r>
                      <a:r>
                        <a:rPr lang="en-IN" sz="1050" b="1" dirty="0" err="1"/>
                        <a:t>LangChain</a:t>
                      </a:r>
                      <a:r>
                        <a:rPr lang="en-IN" sz="1050" b="1" dirty="0"/>
                        <a:t> Pandas Agent</a:t>
                      </a:r>
                      <a:r>
                        <a:rPr lang="en-IN" sz="1050" dirty="0"/>
                        <a:t>, completely closing the workforce visibility gap end-to-end.</a:t>
                      </a:r>
                    </a:p>
                    <a:p>
                      <a:pPr marL="287020" indent="-171450" algn="l" rtl="0" eaLnBrk="1" fontAlgn="t" latinLnBrk="0" hangingPunct="1">
                        <a:buFont typeface="Arial" panose="020B0604020202020204" pitchFamily="34" charset="0"/>
                        <a:buChar char="•"/>
                      </a:pPr>
                      <a:endParaRPr lang="en-US" sz="1050" b="0" i="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Segoe UI"/>
                      </a:endParaRP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91849156"/>
                  </a:ext>
                </a:extLst>
              </a:tr>
              <a:tr h="763595">
                <a:tc>
                  <a:txBody>
                    <a:bodyPr/>
                    <a:lstStyle/>
                    <a:p>
                      <a:pPr marL="50800" indent="0" algn="l" defTabSz="914400" rtl="0" eaLnBrk="1" fontAlgn="t" latinLnBrk="0" hangingPunct="1">
                        <a:buNone/>
                      </a:pPr>
                      <a:r>
                        <a:rPr lang="en-US" sz="10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Segoe UI" panose="020B0502040204020203" pitchFamily="34" charset="0"/>
                        </a:rPr>
                        <a:t>Innovation &amp; Creativity </a:t>
                      </a:r>
                    </a:p>
                  </a:txBody>
                  <a:tcPr marL="1538" marR="1538" marT="153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IN" sz="1050" b="1" dirty="0"/>
                        <a:t>Cost-Optimized AI via LRU Semantic Caching:</a:t>
                      </a:r>
                      <a:r>
                        <a:rPr lang="en-IN" sz="1050" dirty="0"/>
                        <a:t> Drastically reduces LLM API costs and query latency by caching frequent analytical requests.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IN" sz="1050" b="1" dirty="0"/>
                        <a:t>Agentic Execution Sandbox:</a:t>
                      </a:r>
                      <a:r>
                        <a:rPr lang="en-IN" sz="1050" dirty="0"/>
                        <a:t> The LLM does not hallucinate numbers; it writes and executes Python code natively against the </a:t>
                      </a:r>
                      <a:r>
                        <a:rPr lang="en-IN" sz="1050" dirty="0" err="1"/>
                        <a:t>dataframes</a:t>
                      </a:r>
                      <a:r>
                        <a:rPr lang="en-IN" sz="1050" dirty="0"/>
                        <a:t> to calculate exact metrics.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IN" sz="1050" b="1" dirty="0"/>
                        <a:t>Novel KPI-Driven Voucher Engine:</a:t>
                      </a:r>
                      <a:r>
                        <a:rPr lang="en-IN" sz="1050" dirty="0"/>
                        <a:t> Turns passive L&amp;D data into actionable rewards by auto-qualifying learners for vouchers based on a custom Weighted Engagement Score (5 weighted signals), tracked with a full audit trail.</a:t>
                      </a:r>
                    </a:p>
                    <a:p>
                      <a:pPr marL="287020" indent="-171450" algn="l" rtl="0" eaLnBrk="1" fontAlgn="t" latinLnBrk="0" hangingPunct="1">
                        <a:buFont typeface="Arial" panose="020B0604020202020204" pitchFamily="34" charset="0"/>
                        <a:buChar char="•"/>
                      </a:pPr>
                      <a:endParaRPr lang="en-US" sz="1050" b="0" i="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Segoe UI"/>
                      </a:endParaRP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25810681"/>
                  </a:ext>
                </a:extLst>
              </a:tr>
              <a:tr h="611780">
                <a:tc>
                  <a:txBody>
                    <a:bodyPr/>
                    <a:lstStyle/>
                    <a:p>
                      <a:pPr marL="50800" indent="0" algn="l" defTabSz="914400" rtl="0" eaLnBrk="1" fontAlgn="t" latinLnBrk="0" hangingPunct="1">
                        <a:buNone/>
                      </a:pPr>
                      <a:r>
                        <a:rPr lang="en-US" sz="10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Segoe UI" panose="020B0502040204020203" pitchFamily="34" charset="0"/>
                        </a:rPr>
                        <a:t>Technical Implementation </a:t>
                      </a:r>
                    </a:p>
                  </a:txBody>
                  <a:tcPr marL="1538" marR="1538" marT="153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IN" sz="1050" b="1" dirty="0"/>
                        <a:t>Pipeline:</a:t>
                      </a:r>
                      <a:r>
                        <a:rPr lang="en-IN" sz="1050" dirty="0"/>
                        <a:t> ADF ingestion → </a:t>
                      </a:r>
                      <a:r>
                        <a:rPr lang="en-IN" sz="1050" dirty="0" err="1"/>
                        <a:t>PySpark</a:t>
                      </a:r>
                      <a:r>
                        <a:rPr lang="en-IN" sz="1050" dirty="0"/>
                        <a:t> Silver → Delta Gold (Star schema) → Materialized Views → </a:t>
                      </a:r>
                      <a:r>
                        <a:rPr lang="en-IN" sz="1050" dirty="0" err="1"/>
                        <a:t>Streamlit</a:t>
                      </a:r>
                      <a:r>
                        <a:rPr lang="en-IN" sz="1050" dirty="0"/>
                        <a:t> + </a:t>
                      </a:r>
                      <a:r>
                        <a:rPr lang="en-IN" sz="1050" dirty="0" err="1"/>
                        <a:t>LangChain</a:t>
                      </a:r>
                      <a:r>
                        <a:rPr lang="en-IN" sz="1050" dirty="0"/>
                        <a:t> AI Agent.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IN" sz="1050" b="1" dirty="0"/>
                        <a:t>Advanced Gold Layer Optimizations:</a:t>
                      </a:r>
                      <a:r>
                        <a:rPr lang="en-IN" sz="1050" dirty="0"/>
                        <a:t> Zero full overwrites. Utilizes incremental </a:t>
                      </a:r>
                      <a:r>
                        <a:rPr lang="en-IN" sz="10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MERGE</a:t>
                      </a:r>
                      <a:r>
                        <a:rPr lang="en-IN" sz="1050" dirty="0"/>
                        <a:t> statements for CDC (Change Data Capture) and maintains strict SCD Type 2 history.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IN" sz="1050" b="1" dirty="0"/>
                        <a:t>Delta Time Travel:</a:t>
                      </a:r>
                      <a:r>
                        <a:rPr lang="en-IN" sz="1050" dirty="0"/>
                        <a:t> Built-in version history allows for seamless rollbacks and precise audits of data deletions or real-time ingestion errors.</a:t>
                      </a:r>
                    </a:p>
                    <a:p>
                      <a:pPr marL="171450"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050" i="0" dirty="0">
                        <a:solidFill>
                          <a:schemeClr val="tx1"/>
                        </a:solidFill>
                        <a:latin typeface="Aptos"/>
                        <a:cs typeface="Segoe UI"/>
                      </a:endParaRP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39584888"/>
                  </a:ext>
                </a:extLst>
              </a:tr>
              <a:tr h="611780">
                <a:tc>
                  <a:txBody>
                    <a:bodyPr/>
                    <a:lstStyle/>
                    <a:p>
                      <a:pPr marL="50800" indent="0" algn="l" defTabSz="914400" rtl="0" eaLnBrk="1" fontAlgn="t" latinLnBrk="0" hangingPunct="1">
                        <a:buNone/>
                      </a:pPr>
                      <a:r>
                        <a:rPr lang="en-US" sz="10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Segoe UI" panose="020B0502040204020203" pitchFamily="34" charset="0"/>
                        </a:rPr>
                        <a:t>User Experience </a:t>
                      </a:r>
                    </a:p>
                  </a:txBody>
                  <a:tcPr marL="1538" marR="1538" marT="153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IN" sz="1050" b="1" dirty="0"/>
                        <a:t>Unified </a:t>
                      </a:r>
                      <a:r>
                        <a:rPr lang="en-IN" sz="1050" b="1" dirty="0" err="1"/>
                        <a:t>Streamlit</a:t>
                      </a:r>
                      <a:r>
                        <a:rPr lang="en-IN" sz="1050" b="1" dirty="0"/>
                        <a:t> Hub:</a:t>
                      </a:r>
                      <a:r>
                        <a:rPr lang="en-IN" sz="1050" dirty="0"/>
                        <a:t> A single pane of glass for L&amp;D managers.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IN" sz="1050" dirty="0"/>
                        <a:t>Features instant, deterministic tables for standard lookups, and a natural language chat interface for complex analytics.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IN" sz="1050" b="1" dirty="0"/>
                        <a:t>Automated Deliverables:</a:t>
                      </a:r>
                      <a:r>
                        <a:rPr lang="en-IN" sz="1050" dirty="0"/>
                        <a:t> Auto-generates Matplotlib visual charts and 1-click downloadable FPDF reports. Zero SQL or BI training required.</a:t>
                      </a:r>
                    </a:p>
                    <a:p>
                      <a:pPr marL="171450"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050" b="0" i="0" u="none" strike="noStrike" kern="1200" noProof="0" dirty="0">
                        <a:solidFill>
                          <a:schemeClr val="tx1"/>
                        </a:solidFill>
                        <a:effectLst/>
                        <a:latin typeface="Aptos"/>
                        <a:ea typeface="+mn-ea"/>
                        <a:cs typeface="Segoe UI"/>
                      </a:endParaRP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23473607"/>
                  </a:ext>
                </a:extLst>
              </a:tr>
              <a:tr h="459965">
                <a:tc>
                  <a:txBody>
                    <a:bodyPr/>
                    <a:lstStyle/>
                    <a:p>
                      <a:pPr marL="50800" indent="0" algn="l" defTabSz="914400" rtl="0" eaLnBrk="1" fontAlgn="t" latinLnBrk="0" hangingPunct="1">
                        <a:buNone/>
                      </a:pPr>
                      <a:r>
                        <a:rPr lang="en-US" sz="10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Segoe UI" panose="020B0502040204020203" pitchFamily="34" charset="0"/>
                        </a:rPr>
                        <a:t>Impact &amp; Scalability </a:t>
                      </a:r>
                    </a:p>
                  </a:txBody>
                  <a:tcPr marL="1538" marR="1538" marT="153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IN" sz="1050" b="1" dirty="0"/>
                        <a:t>Sub-second Latency:</a:t>
                      </a:r>
                      <a:r>
                        <a:rPr lang="en-IN" sz="1050" dirty="0"/>
                        <a:t> Achieved through the strategic use of Materialized Views and LRU caching, handling 476+ users and 7 unified sources effortlessly.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IN" sz="1050" b="1" dirty="0"/>
                        <a:t>Highly Scalable Foundation:</a:t>
                      </a:r>
                      <a:r>
                        <a:rPr lang="en-IN" sz="1050" dirty="0"/>
                        <a:t> The rigorous use of incremental </a:t>
                      </a:r>
                      <a:r>
                        <a:rPr lang="en-IN" sz="10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MERGE</a:t>
                      </a:r>
                      <a:r>
                        <a:rPr lang="en-IN" sz="1050" dirty="0"/>
                        <a:t> and SCD2 history makes the architecture natively ready for structured streaming transitions.</a:t>
                      </a:r>
                    </a:p>
                    <a:p>
                      <a:pPr marL="171450"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050" dirty="0">
                        <a:solidFill>
                          <a:schemeClr val="tx1"/>
                        </a:solidFill>
                        <a:latin typeface="Aptos"/>
                      </a:endParaRP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7035165"/>
                  </a:ext>
                </a:extLst>
              </a:tr>
              <a:tr h="611780">
                <a:tc>
                  <a:txBody>
                    <a:bodyPr/>
                    <a:lstStyle/>
                    <a:p>
                      <a:pPr marL="50800" indent="0" algn="l" defTabSz="914400" rtl="0" eaLnBrk="1" fontAlgn="t" latinLnBrk="0" hangingPunct="1">
                        <a:buNone/>
                      </a:pPr>
                      <a:r>
                        <a:rPr lang="en-US" sz="10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Segoe UI" panose="020B0502040204020203" pitchFamily="34" charset="0"/>
                        </a:rPr>
                        <a:t>Presentation &amp; Pitch </a:t>
                      </a:r>
                    </a:p>
                  </a:txBody>
                  <a:tcPr marL="1538" marR="1538" marT="153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IN" sz="1050" b="1" dirty="0"/>
                        <a:t>Problem:</a:t>
                      </a:r>
                      <a:r>
                        <a:rPr lang="en-IN" sz="1050" dirty="0"/>
                        <a:t> 7 siloed L&amp;D datasets causing reporting delays and blind spots.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IN" sz="1050" b="1" dirty="0"/>
                        <a:t>Solution:</a:t>
                      </a:r>
                      <a:r>
                        <a:rPr lang="en-IN" sz="1050" dirty="0"/>
                        <a:t> An optimized Medallion pipeline feeding a cost-conscious, hybrid AI Agent.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IN" sz="1050" b="1" dirty="0"/>
                        <a:t>Demo Highlights:</a:t>
                      </a:r>
                      <a:r>
                        <a:rPr lang="en-IN" sz="1050" dirty="0"/>
                        <a:t> Real-time dynamic chart generation, semantic caching speed-ups, and automated PDF reporting.</a:t>
                      </a:r>
                    </a:p>
                    <a:p>
                      <a:pPr marL="171450"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050" dirty="0">
                        <a:solidFill>
                          <a:schemeClr val="tx1"/>
                        </a:solidFill>
                        <a:latin typeface="Aptos"/>
                      </a:endParaRP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02658090"/>
                  </a:ext>
                </a:extLst>
              </a:tr>
              <a:tr h="611780">
                <a:tc>
                  <a:txBody>
                    <a:bodyPr/>
                    <a:lstStyle/>
                    <a:p>
                      <a:pPr marL="50800" indent="0" algn="l" defTabSz="914400" rtl="0" eaLnBrk="1" fontAlgn="t" latinLnBrk="0" hangingPunct="1">
                        <a:buNone/>
                      </a:pPr>
                      <a:r>
                        <a:rPr lang="en-US" sz="10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Segoe UI" panose="020B0502040204020203" pitchFamily="34" charset="0"/>
                        </a:rPr>
                        <a:t>Adaptability &amp; Flexibility</a:t>
                      </a:r>
                    </a:p>
                  </a:txBody>
                  <a:tcPr marL="1538" marR="1538" marT="153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IN" sz="1050" dirty="0"/>
                        <a:t>Supports any tabular source via ADF and a schema-driven Silver layer.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IN" sz="1050" b="1" dirty="0"/>
                        <a:t>Decoupled Architecture:</a:t>
                      </a:r>
                      <a:r>
                        <a:rPr lang="en-IN" sz="1050" dirty="0"/>
                        <a:t> The use of Materialized Views cleanly separates the analytical frontend from the raw data, allowing seamless future migration of the application layer to Azure App Services and Azure OpenAI.</a:t>
                      </a:r>
                    </a:p>
                    <a:p>
                      <a:pPr marL="171450"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050" dirty="0">
                        <a:solidFill>
                          <a:schemeClr val="tx1"/>
                        </a:solidFill>
                        <a:latin typeface="Aptos"/>
                      </a:endParaRP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48823381"/>
                  </a:ext>
                </a:extLst>
              </a:tr>
              <a:tr h="459965">
                <a:tc>
                  <a:txBody>
                    <a:bodyPr/>
                    <a:lstStyle/>
                    <a:p>
                      <a:pPr marL="50800" indent="0" algn="l" defTabSz="914400" rtl="0" eaLnBrk="1" fontAlgn="t" latinLnBrk="0" hangingPunct="1">
                        <a:buNone/>
                      </a:pPr>
                      <a:r>
                        <a:rPr lang="en-US" sz="10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Segoe UI" panose="020B0502040204020203" pitchFamily="34" charset="0"/>
                        </a:rPr>
                        <a:t>Overall Impression </a:t>
                      </a:r>
                    </a:p>
                  </a:txBody>
                  <a:tcPr marL="1538" marR="1538" marT="153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IN" sz="1050" dirty="0"/>
                        <a:t>A highly optimized, production-ready POC showcasing strong Data Engineering principles.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IN" sz="1050" dirty="0"/>
                        <a:t>Combines robust, ACID-compliant Medallion pipelines with a practical, hallucination-free AI application that prioritizes cost-efficiency and accuracy.</a:t>
                      </a:r>
                    </a:p>
                    <a:p>
                      <a:pPr marL="171450"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050" dirty="0">
                        <a:solidFill>
                          <a:schemeClr val="tx1"/>
                        </a:solidFill>
                        <a:latin typeface="Aptos"/>
                      </a:endParaRP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71535938"/>
                  </a:ext>
                </a:extLst>
              </a:tr>
              <a:tr h="418971">
                <a:tc>
                  <a:txBody>
                    <a:bodyPr/>
                    <a:lstStyle/>
                    <a:p>
                      <a:pPr marL="50800" indent="0" algn="l" defTabSz="914400" rtl="0" eaLnBrk="1" fontAlgn="t" latinLnBrk="0" hangingPunct="1">
                        <a:buNone/>
                      </a:pPr>
                      <a:r>
                        <a:rPr lang="en-US" sz="10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Segoe UI" panose="020B0502040204020203" pitchFamily="34" charset="0"/>
                        </a:rPr>
                        <a:t>Why does your POC/Tool worthy of GTM development ?</a:t>
                      </a:r>
                    </a:p>
                  </a:txBody>
                  <a:tcPr marL="1538" marR="1538" marT="153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en-IN" sz="1050" b="1" dirty="0"/>
                        <a:t>Enterprise-Ready &amp; Cost-Effective:</a:t>
                      </a:r>
                      <a:r>
                        <a:rPr lang="en-IN" sz="1050" dirty="0"/>
                        <a:t> It merges rigorous data warehousing (CDC, SCD Type 2) with a cutting-edge hybrid AI router. By leveraging semantic caching and executing real Python logic instead of relying on pure LLM reasoning, it provides an enterprise-safe, hallucination-free analytics engine that is built to scale sustainably on Azure.</a:t>
                      </a:r>
                      <a:endParaRPr lang="en-US" sz="1050" dirty="0">
                        <a:solidFill>
                          <a:schemeClr val="tx1"/>
                        </a:solidFill>
                        <a:latin typeface="Aptos"/>
                      </a:endParaRP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04219842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7BA238B4-0ECC-1979-27D8-079F3FFA824F}"/>
              </a:ext>
            </a:extLst>
          </p:cNvPr>
          <p:cNvSpPr txBox="1"/>
          <p:nvPr/>
        </p:nvSpPr>
        <p:spPr>
          <a:xfrm>
            <a:off x="521725" y="163912"/>
            <a:ext cx="6096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sz="2800" b="1" dirty="0">
                <a:solidFill>
                  <a:srgbClr val="1A1A1A"/>
                </a:solidFill>
                <a:latin typeface="Aptos Display" panose="02110004020202020204"/>
              </a:rPr>
              <a:t>Solution Approach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rgbClr val="1A1A1A"/>
              </a:solidFill>
              <a:effectLst/>
              <a:uLnTx/>
              <a:uFillTx/>
              <a:latin typeface="Aptos Display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502156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CA9380-650C-4455-1E5A-A8FFC9FC52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3DE6766-3D30-1701-9691-A3A51F22412C}"/>
              </a:ext>
            </a:extLst>
          </p:cNvPr>
          <p:cNvSpPr txBox="1"/>
          <p:nvPr/>
        </p:nvSpPr>
        <p:spPr>
          <a:xfrm>
            <a:off x="585032" y="556467"/>
            <a:ext cx="6096000" cy="52322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defRPr/>
            </a:pPr>
            <a:r>
              <a:rPr lang="en-IN" sz="2800" b="1">
                <a:solidFill>
                  <a:srgbClr val="1A1A1A"/>
                </a:solidFill>
                <a:latin typeface="Aptos Display" panose="02110004020202020204"/>
              </a:rPr>
              <a:t>Star Schema</a:t>
            </a:r>
            <a:endParaRPr lang="en-US">
              <a:ea typeface="+mn-ea"/>
              <a:cs typeface="+mn-cs"/>
            </a:endParaRP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9DE248C3-E943-25B7-C752-5828213E85F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505666" y="1174591"/>
            <a:ext cx="8968005" cy="51307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28821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772937-94BA-E774-BC10-9B322769B4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1749" y="774700"/>
            <a:ext cx="7437437" cy="553998"/>
          </a:xfrm>
        </p:spPr>
        <p:txBody>
          <a:bodyPr>
            <a:normAutofit fontScale="90000"/>
          </a:bodyPr>
          <a:lstStyle/>
          <a:p>
            <a:r>
              <a:rPr lang="en-US" b="1">
                <a:solidFill>
                  <a:schemeClr val="tx1"/>
                </a:solidFill>
                <a:latin typeface="Aptos"/>
                <a:cs typeface="Segoe Sans Display Semibold"/>
              </a:rPr>
              <a:t>ER Diagram</a:t>
            </a:r>
          </a:p>
          <a:p>
            <a:endParaRPr lang="en-US" dirty="0">
              <a:solidFill>
                <a:schemeClr val="tx1"/>
              </a:solidFill>
              <a:latin typeface="Segoe Sans Display Semibold"/>
              <a:cs typeface="Segoe Sans Display Semibold"/>
            </a:endParaRP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2143D492-520C-008F-40C8-25CD55D3C4D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637931" y="1158012"/>
            <a:ext cx="9031189" cy="52373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44028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A28335-30D9-0938-9630-76FB93F83C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E731104-538B-41BE-7EED-87601E3678C5}"/>
              </a:ext>
            </a:extLst>
          </p:cNvPr>
          <p:cNvSpPr txBox="1"/>
          <p:nvPr/>
        </p:nvSpPr>
        <p:spPr>
          <a:xfrm>
            <a:off x="530603" y="465753"/>
            <a:ext cx="6096000" cy="52322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Aptos Display" panose="02110004020202020204"/>
                <a:ea typeface="+mn-ea"/>
                <a:cs typeface="+mn-cs"/>
              </a:rPr>
              <a:t>P</a:t>
            </a:r>
            <a:r>
              <a:rPr kumimoji="0" lang="en-IN" sz="2800" b="1" i="0" u="none" strike="noStrike" kern="1200" cap="none" spc="0" normalizeH="0" baseline="0" noProof="0" dirty="0" err="1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Aptos Display" panose="02110004020202020204"/>
                <a:ea typeface="+mn-ea"/>
                <a:cs typeface="+mn-cs"/>
              </a:rPr>
              <a:t>ower</a:t>
            </a:r>
            <a:r>
              <a:rPr kumimoji="0" lang="en-IN" sz="2800" b="1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Aptos Display" panose="02110004020202020204"/>
                <a:ea typeface="+mn-ea"/>
                <a:cs typeface="+mn-cs"/>
              </a:rPr>
              <a:t> BI </a:t>
            </a:r>
            <a:r>
              <a:rPr lang="en-IN" sz="2800" b="1" dirty="0">
                <a:solidFill>
                  <a:srgbClr val="1A1A1A"/>
                </a:solidFill>
                <a:latin typeface="Aptos Display" panose="02110004020202020204"/>
              </a:rPr>
              <a:t>Dashboard Insights 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rgbClr val="1A1A1A"/>
              </a:solidFill>
              <a:effectLst/>
              <a:uLnTx/>
              <a:uFillTx/>
              <a:latin typeface="Aptos Display" panose="02110004020202020204"/>
              <a:ea typeface="+mn-ea"/>
              <a:cs typeface="+mn-cs"/>
            </a:endParaRPr>
          </a:p>
        </p:txBody>
      </p:sp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435CB4C7-EF94-FBE2-8E07-2E4EFB9914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4430" y="1241582"/>
            <a:ext cx="9479641" cy="475583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A7C7F15-6FEA-0C6B-F90E-05BA23AEBC8F}"/>
              </a:ext>
            </a:extLst>
          </p:cNvPr>
          <p:cNvSpPr txBox="1"/>
          <p:nvPr/>
        </p:nvSpPr>
        <p:spPr>
          <a:xfrm>
            <a:off x="5366657" y="5990771"/>
            <a:ext cx="1451428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b="1"/>
              <a:t>Overview</a:t>
            </a:r>
          </a:p>
        </p:txBody>
      </p:sp>
    </p:spTree>
    <p:extLst>
      <p:ext uri="{BB962C8B-B14F-4D97-AF65-F5344CB8AC3E}">
        <p14:creationId xmlns:p14="http://schemas.microsoft.com/office/powerpoint/2010/main" val="37456890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889E49-4A97-D072-8A6B-B9BC774B35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0B9FD1E6-0830-B2C6-FCC6-CD62661CF6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31" y="1165460"/>
            <a:ext cx="6141720" cy="524689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6B0DE6B-3C44-D9F8-5A35-F6FF5A40ED9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21406" y="1029810"/>
            <a:ext cx="6295301" cy="5382546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504712F8-7CA5-3D9C-CFED-98728FFD77BF}"/>
              </a:ext>
            </a:extLst>
          </p:cNvPr>
          <p:cNvSpPr txBox="1"/>
          <p:nvPr/>
        </p:nvSpPr>
        <p:spPr>
          <a:xfrm>
            <a:off x="523783" y="445644"/>
            <a:ext cx="9197265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 dirty="0"/>
              <a:t>The AI Brain: </a:t>
            </a:r>
            <a:r>
              <a:rPr lang="en-IN" sz="2800" b="1" dirty="0" err="1"/>
              <a:t>Streamlit</a:t>
            </a:r>
            <a:r>
              <a:rPr lang="en-IN" sz="2800" b="1" dirty="0"/>
              <a:t> UI vs. </a:t>
            </a:r>
            <a:r>
              <a:rPr lang="en-IN" sz="2800" b="1" dirty="0" err="1"/>
              <a:t>LangChain</a:t>
            </a:r>
            <a:r>
              <a:rPr lang="en-IN" sz="2800" b="1" dirty="0"/>
              <a:t> Execution</a:t>
            </a:r>
            <a:endParaRPr lang="en-IN" sz="2800" dirty="0"/>
          </a:p>
          <a:p>
            <a:pPr>
              <a:buNone/>
            </a:pPr>
            <a:endParaRPr lang="en-IN" sz="2800" b="1" dirty="0"/>
          </a:p>
        </p:txBody>
      </p:sp>
    </p:spTree>
    <p:extLst>
      <p:ext uri="{BB962C8B-B14F-4D97-AF65-F5344CB8AC3E}">
        <p14:creationId xmlns:p14="http://schemas.microsoft.com/office/powerpoint/2010/main" val="157879887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38154D1-7FB2-9B82-C9C3-F887368740C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343645" y="2088289"/>
            <a:ext cx="6943333" cy="1509387"/>
          </a:xfrm>
        </p:spPr>
        <p:txBody>
          <a:bodyPr/>
          <a:lstStyle/>
          <a:p>
            <a:r>
              <a:rPr lang="en-US" dirty="0"/>
              <a:t>THANK YOU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697642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LTM_March 2026">
      <a:dk1>
        <a:srgbClr val="1A1A1A"/>
      </a:dk1>
      <a:lt1>
        <a:srgbClr val="FFFFFF"/>
      </a:lt1>
      <a:dk2>
        <a:srgbClr val="4C4E4F"/>
      </a:dk2>
      <a:lt2>
        <a:srgbClr val="E3E3E3"/>
      </a:lt2>
      <a:accent1>
        <a:srgbClr val="FF5E4F"/>
      </a:accent1>
      <a:accent2>
        <a:srgbClr val="559BB5"/>
      </a:accent2>
      <a:accent3>
        <a:srgbClr val="482475"/>
      </a:accent3>
      <a:accent4>
        <a:srgbClr val="F8FFC8"/>
      </a:accent4>
      <a:accent5>
        <a:srgbClr val="C1C1C1"/>
      </a:accent5>
      <a:accent6>
        <a:srgbClr val="34754D"/>
      </a:accent6>
      <a:hlink>
        <a:srgbClr val="004B86"/>
      </a:hlink>
      <a:folHlink>
        <a:srgbClr val="990000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C5B18212111DD4E972B02016F5D797C" ma:contentTypeVersion="21" ma:contentTypeDescription="Create a new document." ma:contentTypeScope="" ma:versionID="3afbd90cbdc0939804adb136d66b0736">
  <xsd:schema xmlns:xsd="http://www.w3.org/2001/XMLSchema" xmlns:xs="http://www.w3.org/2001/XMLSchema" xmlns:p="http://schemas.microsoft.com/office/2006/metadata/properties" xmlns:ns1="http://schemas.microsoft.com/sharepoint/v3" xmlns:ns3="6ef4bce3-1b5c-4ad9-bbf6-ec9f652c17a9" xmlns:ns4="1e7b39a1-4df1-480c-b954-7da1a40710c4" targetNamespace="http://schemas.microsoft.com/office/2006/metadata/properties" ma:root="true" ma:fieldsID="12d6ba3c21a03791a73dccffd5415542" ns1:_="" ns3:_="" ns4:_="">
    <xsd:import namespace="http://schemas.microsoft.com/sharepoint/v3"/>
    <xsd:import namespace="6ef4bce3-1b5c-4ad9-bbf6-ec9f652c17a9"/>
    <xsd:import namespace="1e7b39a1-4df1-480c-b954-7da1a40710c4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AutoKeyPoints" minOccurs="0"/>
                <xsd:element ref="ns3:MediaServiceKeyPoints" minOccurs="0"/>
                <xsd:element ref="ns3:MediaServiceDateTaken" minOccurs="0"/>
                <xsd:element ref="ns3:MediaLengthInSeconds" minOccurs="0"/>
                <xsd:element ref="ns3:MediaServiceLocation" minOccurs="0"/>
                <xsd:element ref="ns3:_activity" minOccurs="0"/>
                <xsd:element ref="ns1:_ip_UnifiedCompliancePolicyProperties" minOccurs="0"/>
                <xsd:element ref="ns1:_ip_UnifiedCompliancePolicyUIAction" minOccurs="0"/>
                <xsd:element ref="ns3:MediaServiceSearchProperties" minOccurs="0"/>
                <xsd:element ref="ns3:MediaServiceObjectDetectorVersions" minOccurs="0"/>
                <xsd:element ref="ns3:MediaServiceSystemTags" minOccurs="0"/>
                <xsd:element ref="ns3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3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24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ef4bce3-1b5c-4ad9-bbf6-ec9f652c17a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7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8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9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20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21" nillable="true" ma:displayName="Location" ma:internalName="MediaServiceLocation" ma:readOnly="true">
      <xsd:simpleType>
        <xsd:restriction base="dms:Text"/>
      </xsd:simpleType>
    </xsd:element>
    <xsd:element name="_activity" ma:index="22" nillable="true" ma:displayName="_activity" ma:hidden="true" ma:internalName="_activity">
      <xsd:simpleType>
        <xsd:restriction base="dms:Note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26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ystemTags" ma:index="27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BillingMetadata" ma:index="28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e7b39a1-4df1-480c-b954-7da1a40710c4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2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_activity xmlns="6ef4bce3-1b5c-4ad9-bbf6-ec9f652c17a9" xsi:nil="true"/>
    <_ip_UnifiedCompliancePolicyProperties xmlns="http://schemas.microsoft.com/sharepoint/v3" xsi:nil="true"/>
  </documentManagement>
</p:properties>
</file>

<file path=customXml/itemProps1.xml><?xml version="1.0" encoding="utf-8"?>
<ds:datastoreItem xmlns:ds="http://schemas.openxmlformats.org/officeDocument/2006/customXml" ds:itemID="{C54E36E1-9952-432C-A7F5-84B268E890BB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84EBD496-94DE-4C45-B417-05328C99673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6ef4bce3-1b5c-4ad9-bbf6-ec9f652c17a9"/>
    <ds:schemaRef ds:uri="1e7b39a1-4df1-480c-b954-7da1a40710c4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947C65AD-D66C-409B-A970-B33FB8F988FF}">
  <ds:schemaRefs>
    <ds:schemaRef ds:uri="http://schemas.microsoft.com/sharepoint/v3"/>
    <ds:schemaRef ds:uri="http://www.w3.org/XML/1998/namespace"/>
    <ds:schemaRef ds:uri="http://purl.org/dc/terms/"/>
    <ds:schemaRef ds:uri="http://schemas.microsoft.com/office/2006/documentManagement/types"/>
    <ds:schemaRef ds:uri="http://schemas.microsoft.com/office/infopath/2007/PartnerControls"/>
    <ds:schemaRef ds:uri="1e7b39a1-4df1-480c-b954-7da1a40710c4"/>
    <ds:schemaRef ds:uri="6ef4bce3-1b5c-4ad9-bbf6-ec9f652c17a9"/>
    <ds:schemaRef ds:uri="http://purl.org/dc/elements/1.1/"/>
    <ds:schemaRef ds:uri="http://schemas.openxmlformats.org/package/2006/metadata/core-properties"/>
    <ds:schemaRef ds:uri="http://schemas.microsoft.com/office/2006/metadata/properties"/>
    <ds:schemaRef ds:uri="http://purl.org/dc/dcmitype/"/>
  </ds:schemaRefs>
</ds:datastoreItem>
</file>

<file path=docMetadata/LabelInfo.xml><?xml version="1.0" encoding="utf-8"?>
<clbl:labelList xmlns:clbl="http://schemas.microsoft.com/office/2020/mipLabelMetadata">
  <clbl:label id="{f42aa342-8706-4288-bd11-ebb85995028c}" enabled="1" method="Privileged" siteId="{72f988bf-86f1-41af-91ab-2d7cd011db4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303</TotalTime>
  <Words>899</Words>
  <Application>Microsoft Office PowerPoint</Application>
  <PresentationFormat>Widescreen</PresentationFormat>
  <Paragraphs>76</Paragraphs>
  <Slides>10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7" baseType="lpstr">
      <vt:lpstr>Aptos</vt:lpstr>
      <vt:lpstr>Aptos Display</vt:lpstr>
      <vt:lpstr>Arial</vt:lpstr>
      <vt:lpstr>ES Klarheit Grotesk</vt:lpstr>
      <vt:lpstr>ES Klarheit Grotesk Lt</vt:lpstr>
      <vt:lpstr>Segoe Sans Display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ER Diagram 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Liz Torres-Ramirez</dc:creator>
  <cp:lastModifiedBy>Siyaram Sharma</cp:lastModifiedBy>
  <cp:revision>384</cp:revision>
  <dcterms:created xsi:type="dcterms:W3CDTF">2026-05-05T19:09:33Z</dcterms:created>
  <dcterms:modified xsi:type="dcterms:W3CDTF">2026-06-15T16:35:11Z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0x010100FC5B18212111DD4E972B02016F5D797C</vt:lpwstr>
  </property>
</Properties>
</file>